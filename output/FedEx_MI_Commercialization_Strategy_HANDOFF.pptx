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AD074B-BFD9-477F-884A-9CEA87F3DED7}" v="6" dt="2026-07-16T16:49:57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3" d="100"/>
          <a:sy n="73" d="100"/>
        </p:scale>
        <p:origin x="4134" y="6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Cannon" userId="99f06ca146974bb3" providerId="LiveId" clId="{8A807E57-41A5-4D8F-AE00-7DC815075225}"/>
    <pc:docChg chg="custSel modSld">
      <pc:chgData name="Chris Cannon" userId="99f06ca146974bb3" providerId="LiveId" clId="{8A807E57-41A5-4D8F-AE00-7DC815075225}" dt="2026-07-16T18:02:51.771" v="21" actId="20577"/>
      <pc:docMkLst>
        <pc:docMk/>
      </pc:docMkLst>
      <pc:sldChg chg="modNotesTx">
        <pc:chgData name="Chris Cannon" userId="99f06ca146974bb3" providerId="LiveId" clId="{8A807E57-41A5-4D8F-AE00-7DC815075225}" dt="2026-07-16T16:09:28.461" v="2" actId="20577"/>
        <pc:sldMkLst>
          <pc:docMk/>
          <pc:sldMk cId="0" sldId="257"/>
        </pc:sldMkLst>
      </pc:sldChg>
      <pc:sldChg chg="modSp mod">
        <pc:chgData name="Chris Cannon" userId="99f06ca146974bb3" providerId="LiveId" clId="{8A807E57-41A5-4D8F-AE00-7DC815075225}" dt="2026-07-16T18:02:51.771" v="21" actId="20577"/>
        <pc:sldMkLst>
          <pc:docMk/>
          <pc:sldMk cId="0" sldId="259"/>
        </pc:sldMkLst>
        <pc:spChg chg="mod">
          <ac:chgData name="Chris Cannon" userId="99f06ca146974bb3" providerId="LiveId" clId="{8A807E57-41A5-4D8F-AE00-7DC815075225}" dt="2026-07-16T18:02:51.771" v="21" actId="20577"/>
          <ac:spMkLst>
            <pc:docMk/>
            <pc:sldMk cId="0" sldId="259"/>
            <ac:spMk id="25" creationId="{00000000-0000-0000-0000-000000000000}"/>
          </ac:spMkLst>
        </pc:spChg>
      </pc:sldChg>
      <pc:sldChg chg="modNotesTx">
        <pc:chgData name="Chris Cannon" userId="99f06ca146974bb3" providerId="LiveId" clId="{8A807E57-41A5-4D8F-AE00-7DC815075225}" dt="2026-07-16T16:10:18.083" v="3" actId="6549"/>
        <pc:sldMkLst>
          <pc:docMk/>
          <pc:sldMk cId="0" sldId="260"/>
        </pc:sldMkLst>
      </pc:sldChg>
      <pc:sldChg chg="modNotesTx">
        <pc:chgData name="Chris Cannon" userId="99f06ca146974bb3" providerId="LiveId" clId="{8A807E57-41A5-4D8F-AE00-7DC815075225}" dt="2026-07-16T16:49:28.872" v="14" actId="20577"/>
        <pc:sldMkLst>
          <pc:docMk/>
          <pc:sldMk cId="0" sldId="261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sets up the commercialization strategy for FedEx's M&amp;I and Sensor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FedEx's July 2026 consolidation of healthcare capability under Life Sciences is the model for this recommendation</a:t>
            </a:r>
          </a:p>
          <a:p>
            <a:r>
              <a:t>• Surround and SenseAware Mobile both deliver continuous shipment signal; they differ in who acts on it (FedEx vs. the customer)</a:t>
            </a:r>
          </a:p>
          <a:p>
            <a:r>
              <a:t>• Healthcare's revenue track record plus FedEx's own CEO commentary support extending this approach to aerospace next</a:t>
            </a:r>
          </a:p>
          <a:p>
            <a:r>
              <a:t>• RFID remains internal infrastructure today; its data quality already benefits Surround's predictive model, and it's the seed of a future Control Tower capability</a:t>
            </a:r>
          </a:p>
          <a:p>
            <a:r>
              <a:t>• Recommend a recurring cross-business-unit governance cadence as FedEx stands up more dedicated verticals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Pricing evolved as three separate systems (Surround, SenseAware Mobile, Priority Alert) plus RFID with no pricing model yet</a:t>
            </a:r>
          </a:p>
          <a:p>
            <a:r>
              <a:t>• Surround and SenseAware Mobile solve different problems (assisted vs. self-directed) — the fix is shared discipline, not a forced shared ladder</a:t>
            </a:r>
          </a:p>
          <a:p>
            <a:r>
              <a:t>• Two naming/consolidation fixes: Priority Alert should fold into Surround's platform; “SenseAware” branding should apply only to the standalone Mobile product</a:t>
            </a:r>
          </a:p>
          <a:p>
            <a:r>
              <a:t>• Recommend subscription-first with a stronger conversion nudge, while preserving Single Journey as a standing option for low-frequency shippers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One consistent narrative (“we protect it”), grounded in the mechanic that already drives healthcare's results</a:t>
            </a:r>
          </a:p>
          <a:p>
            <a:r>
              <a:t>• Three examples at different stages of readiness: healthcare (real), aerospace (named FedEx vertical, no dedicated motion), data centers (illustrative fit, not a claimed customer story)</a:t>
            </a:r>
          </a:p>
          <a:p>
            <a:r>
              <a:t>• Sales enablement: a starting decision framework mapping industry and shipment sensitivity to an initial tier recommendation — a hypothesis to refine with real usage data, not a finished rulebook (see optional standalone mockup file)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Addresses the prompt's stated gap: customer value and outcomes aren't consistently measured or communicated today</a:t>
            </a:r>
          </a:p>
          <a:p>
            <a:r>
              <a:t>• Four steps, each with a concrete mechanism: default-suggested Single Journey at booking, 24-hour milestone flagging, auto-generated renewal ROI summaries, and a standing QBR agenda item</a:t>
            </a:r>
          </a:p>
          <a:p>
            <a:r>
              <a:t>• Two additional considerations: a phased Priority Alert migration path (not an abrupt cutover), and pre-building RFID's trial-to-subscription funnel ahead of its customer launch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Four KPIs, each tied to a specific move in the strategy rather than a generic scorecard</a:t>
            </a:r>
          </a:p>
          <a:p>
            <a:r>
              <a:t>• Legacy Migration Rate is new — tracks whether Priority Alert accounts actually transition, not just whether the policy exists</a:t>
            </a:r>
          </a:p>
          <a:p>
            <a:r>
              <a:t>• Recommend treating subscription conversion as a testable lever (trial length, milestone timing, incentive structure) rather than a static 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referenced throughout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548640"/>
            <a:ext cx="3291840" cy="3291840"/>
          </a:xfrm>
          <a:prstGeom prst="ellipse">
            <a:avLst/>
          </a:prstGeom>
          <a:solidFill>
            <a:srgbClr val="4D148C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49840" y="1920240"/>
            <a:ext cx="2743200" cy="2743200"/>
          </a:xfrm>
          <a:prstGeom prst="ellipse">
            <a:avLst/>
          </a:prstGeom>
          <a:solidFill>
            <a:srgbClr val="6A3AA8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3017520"/>
            <a:ext cx="2194560" cy="2194560"/>
          </a:xfrm>
          <a:prstGeom prst="ellipse">
            <a:avLst/>
          </a:prstGeom>
          <a:solidFill>
            <a:srgbClr val="FF660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PRINCIPAL  —  GO-TO-MARKET &amp; COMMERCIALIZATION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It. Monitor It. Find It.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C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commercialization strategy for FedEx Monitoring &amp; Intervention and Sensor Solutions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100584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Cannon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Presentation  —  July 17,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—  PORTFOLIO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 disjointed product set into one platform — the same bet FedEx just made elsewhere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621792"/>
          </a:xfrm>
          <a:prstGeom prst="roundRect">
            <a:avLst>
              <a:gd name="adj" fmla="val 8824"/>
            </a:avLst>
          </a:prstGeom>
          <a:solidFill>
            <a:srgbClr val="E9E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“Nearly $10 billion in healthcare transportation revenue exiting FY26.”  </a:t>
            </a:r>
            <a:r>
              <a:rPr lang="en-US" sz="105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FedEx Q4 FY26 earnings call. (~11% of FY26’s $94.7B total revenue.)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7F6FA"/>
          </a:solidFill>
          <a:ln/>
          <a:effectLst>
            <a:outerShdw blurRad="635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340864"/>
            <a:ext cx="530352" cy="530352"/>
          </a:xfrm>
          <a:prstGeom prst="ellipse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340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“Protect it”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61518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Surround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3044952"/>
            <a:ext cx="4928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High-value, time-sensitive shipments needing active, expert-led intervention. Embeds SenseAware ID at top tiers.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084832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7F6FA"/>
          </a:solidFill>
          <a:ln/>
          <a:effectLst>
            <a:outerShdw blurRad="635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19672" y="2340864"/>
            <a:ext cx="530352" cy="530352"/>
          </a:xfrm>
          <a:prstGeom prst="ellipse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9672" y="2340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178040" y="22860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“Monitor it”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78040" y="261518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SenseAware Mobile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9672" y="3044952"/>
            <a:ext cx="4928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Condition-sensitive shipments needing continuous, self-managed environmental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9A9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04164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— RFID: </a:t>
            </a:r>
            <a:r>
              <a:rPr lang="en-US" sz="1150" i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Visibility Infrastructure (Emerging Customer Capability)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2E0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88289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one coherent platform — </a:t>
            </a:r>
            <a:r>
              <a:rPr lang="en-US" sz="13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Intelligent Logistics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Protect It and Monitor It already share a proven commercial motion.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5349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C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is architected in deliberately as it matures — not forced into false equivalence with the other two.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68756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9A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July 2026, FedEx consolidated fragmented healthcare capability under one organization. This presentation asks for the same discipline here — across pricing, packaging, and positioning.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Strategy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Cannon  |  FedEx Business Strategy Principal Interview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—  PACKAGING &amp; PRICING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language, not one forced ladder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evolved as three separate systems, plus a fourth product with no pricing model yet. Surround and SenseAware Mobile answer different questions — forcing one ladder onto both would be artificial.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9E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— FedEx Surround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FedEx's team acts on your behalf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= visibility only. Preferred = in-network intervention. Premium = out-of-network, white-glove recovery, embedded SenseAware ID.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6A3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— SenseAware Mobile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2585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act on the data yourself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= recurring, self-managed monitoring. Single Journey = one-off, low-friction way in — the trial entry point.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307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how customers commit to paying varies too — Surround is contract-based; SenseAware Mobile offers Subscription or Single Journey. Same discipline, different structure, because they solve different problems.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7F6FA"/>
          </a:solidFill>
          <a:ln w="1905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443484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315968"/>
            <a:ext cx="10012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naming fixes worth calling out: </a:t>
            </a:r>
            <a:r>
              <a:rPr lang="en-US" sz="11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Alert predates Surround's platform build and should fold in. And “SenseAware” currently names two different things — a bundled Surround feature and a standalone product — which blurs the line for sales and customers alike.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367528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2E0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5532120"/>
            <a:ext cx="566928" cy="566928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5532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5458968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Subscription-first, guardrail intact. </a:t>
            </a:r>
            <a:r>
              <a:rPr lang="en-US" sz="1100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nudge from Single Journey to Subscription — but keep Single Journey available. Low-frequency, high-value shippers who lose that option may go to a competitor instead.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Pricing Strategy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Cannon  |  FedEx Business Strategy Principal Interview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0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—  POSITIONING &amp; PROMOTION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story, built on what already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D8C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“FedEx doesn’t just ship your shipment. </a:t>
            </a:r>
            <a:r>
              <a:rPr lang="en-US" sz="2100" b="1" i="1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protect it.”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4D148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2221992"/>
            <a:ext cx="512064" cy="512064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25880" y="21854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FedEx Life Sciences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2926080"/>
            <a:ext cx="3008376" cy="0"/>
          </a:xfrm>
          <a:prstGeom prst="line">
            <a:avLst/>
          </a:prstGeom>
          <a:noFill/>
          <a:ln w="12700">
            <a:solidFill>
              <a:srgbClr val="6A3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306324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org, ~$10B revenue base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4D148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53712" y="2221992"/>
            <a:ext cx="512064" cy="512064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3712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66360" y="21854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24963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FedEx growth vertical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53712" y="2926080"/>
            <a:ext cx="3008376" cy="0"/>
          </a:xfrm>
          <a:prstGeom prst="line">
            <a:avLst/>
          </a:prstGeom>
          <a:noFill/>
          <a:ln w="12700">
            <a:solidFill>
              <a:srgbClr val="6A3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53712" y="306324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commercial motion yet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4D148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94192" y="2221992"/>
            <a:ext cx="512064" cy="512064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94192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006840" y="21854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06840" y="24963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FedEx growth vertical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94192" y="2926080"/>
            <a:ext cx="3008376" cy="0"/>
          </a:xfrm>
          <a:prstGeom prst="line">
            <a:avLst/>
          </a:prstGeom>
          <a:noFill/>
          <a:ln w="12700">
            <a:solidFill>
              <a:srgbClr val="6A3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94192" y="306324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</a:t>
            </a:r>
            <a:r>
              <a:rPr lang="en-US" sz="1050" i="1" dirty="0" err="1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SenseAware</a:t>
            </a:r>
            <a:r>
              <a:rPr lang="en-US" sz="1050" i="1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Mobile sensors suit server hardware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3232" y="4462272"/>
            <a:ext cx="548640" cy="548640"/>
          </a:xfrm>
          <a:prstGeom prst="ellipse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232" y="4462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6304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461772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starting decision framework, not a finished rulebook — industry against shipment sensitivity, initial tier recommendation at the intersection. Refined over time using real shipment volume, intervention frequency, and tenure data by tier.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Promotion Strategy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Cannon  |  FedEx Business Strategy Principal Interview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—  DISTRIBUTION &amp; ADOPTION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 trial, prove value, reward loyalty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and business outcomes aren't consistently measured or communicated today — that's the problem these four steps solve.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7F6FA"/>
          </a:solidFill>
          <a:ln/>
          <a:effectLst>
            <a:outerShdw blurRad="635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737360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40487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the trial barrier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953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Journey as the default suggested option at booking for eligible shipments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44952" y="2290572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1536192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7F6FA"/>
          </a:solidFill>
          <a:ln/>
          <a:effectLst>
            <a:outerShdw blurRad="635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240487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value milestones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29000" y="2953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intervention or cost-avoidance event flagged within 24 hours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79592" y="2290572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1536192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7F6FA"/>
          </a:solidFill>
          <a:ln/>
          <a:effectLst>
            <a:outerShdw blurRad="635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78040" y="1737360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63640" y="240487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renewal playbook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63640" y="2953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ROI summary auto-generated 60 days before renewal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14232" y="2290572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61120" y="1536192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7F6FA"/>
          </a:solidFill>
          <a:ln/>
          <a:effectLst>
            <a:outerShdw blurRad="635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12680" y="1737360"/>
            <a:ext cx="502920" cy="502920"/>
          </a:xfrm>
          <a:prstGeom prst="ellipse">
            <a:avLst/>
          </a:prstGeom>
          <a:solidFill>
            <a:srgbClr val="4D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12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098280" y="240487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in account conversations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98280" y="2953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line item on quarterly business review agendas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proactive additions — named, not generic: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041648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2E0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63040" y="4261104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Alert migration path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31520" y="5001768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Priority Alert means real customers on a real product need an explicit migration path — not a flip of a switch. This is an adoption problem, not just a pricing one.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4041648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2E0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37960" y="429768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269480" y="4261104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Pre-build RFID's funnel now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537960" y="5001768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is heading toward a customer-facing product. Build the same trial-to-subscription motion for it today, so it launches with commercial discipline instead of needing to be fixed later.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Adoption Strategy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Cannon  |  FedEx Business Strategy Principal Interview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0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—  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metrics, each tied to a specific move in this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4D148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28016" cy="1600200"/>
          </a:xfrm>
          <a:prstGeom prst="roundRect">
            <a:avLst/>
          </a:prstGeom>
          <a:solidFill>
            <a:srgbClr val="6A3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099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RATE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eligible shipment volume using M&amp;I or Sensor products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4D148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128016" cy="1600200"/>
          </a:xfrm>
          <a:prstGeom prst="roundRect">
            <a:avLst/>
          </a:prstGeom>
          <a:solidFill>
            <a:srgbClr val="6A3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17099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CONVERSION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75120" y="222199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Single Journey users converting to a subscription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4D148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128016" cy="1600200"/>
          </a:xfrm>
          <a:prstGeom prst="round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58444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MIGRATION RATE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09651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Priority Alert accounts transitioned to the unified platform tier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0" y="35844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338328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4D148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3383280"/>
            <a:ext cx="128016" cy="1600200"/>
          </a:xfrm>
          <a:prstGeom prst="roundRect">
            <a:avLst/>
          </a:prstGeom>
          <a:solidFill>
            <a:srgbClr val="6A3A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358444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FF6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REVENUE RETENTION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75120" y="409651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retained plus expansion at renewal — the outcome metric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conversion shouldn't be static — test trial length, milestone timing, and incentive structure systematically, not just track the number.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Cannon  |  FedEx Business Strategy Principal Interview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0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658368"/>
          </a:xfrm>
          <a:prstGeom prst="roundRect">
            <a:avLst>
              <a:gd name="adj" fmla="val 6944"/>
            </a:avLst>
          </a:prstGeom>
          <a:solidFill>
            <a:srgbClr val="F7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Q4 FY26 Earnings Call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0" y="141732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23, 2026 (Brie Carere, EVP &amp; Chief Customer Officer) — healthcare transportation revenue figure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Newsroom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0" y="2075688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Supply Chain divestiture announcement — CEO Raj Subramaniam on healthcare, automotive, aerospace, and data centers as strategic focus verticals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34056"/>
            <a:ext cx="11247120" cy="658368"/>
          </a:xfrm>
          <a:prstGeom prst="roundRect">
            <a:avLst>
              <a:gd name="adj" fmla="val 6944"/>
            </a:avLst>
          </a:prstGeom>
          <a:solidFill>
            <a:srgbClr val="F7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73405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Newsroom / SEC 8-K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2734056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Freight spin-off, completed June 1, 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39242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Newsroom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0" y="3392424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“FedEx Launches Dedicated Life Sciences Organization,” July 9, 2026 — Nick Gennari appointment and background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11247120" cy="658368"/>
          </a:xfrm>
          <a:prstGeom prst="roundRect">
            <a:avLst>
              <a:gd name="adj" fmla="val 6944"/>
            </a:avLst>
          </a:prstGeom>
          <a:solidFill>
            <a:srgbClr val="F7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0507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FedEx.com Product Pages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405079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Surround, SenseAware ID, and Priority Alert — tier structure and service details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70916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2026 Investor Day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(Vishal Talwar, EVP &amp; Chief Digital/Information Officer) — AI integration target, RFID strategy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5367528"/>
            <a:ext cx="11247120" cy="658368"/>
          </a:xfrm>
          <a:prstGeom prst="roundRect">
            <a:avLst>
              <a:gd name="adj" fmla="val 6944"/>
            </a:avLst>
          </a:prstGeom>
          <a:solidFill>
            <a:srgbClr val="F7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536752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0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Chief Data &amp; Analytics Officer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0" y="5367528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statements on RFID customer-facing piloting status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Sources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Cannon  |  FedEx Business Strategy Principal Interview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1477</Words>
  <Application>Microsoft Office PowerPoint</Application>
  <PresentationFormat>Widescreen</PresentationFormat>
  <Paragraphs>144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Cannon</cp:lastModifiedBy>
  <cp:revision>1</cp:revision>
  <dcterms:created xsi:type="dcterms:W3CDTF">2026-07-16T13:52:59Z</dcterms:created>
  <dcterms:modified xsi:type="dcterms:W3CDTF">2026-07-16T18:03:00Z</dcterms:modified>
</cp:coreProperties>
</file>