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AD074B-BFD9-477F-884A-9CEA87F3DED7}" v="10" dt="2026-07-16T22:24:51.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20" d="100"/>
          <a:sy n="120" d="100"/>
        </p:scale>
        <p:origin x="198" y="96"/>
      </p:cViewPr>
      <p:guideLst/>
    </p:cSldViewPr>
  </p:slideViewPr>
  <p:notesTextViewPr>
    <p:cViewPr>
      <p:scale>
        <a:sx n="1" d="1"/>
        <a:sy n="1" d="1"/>
      </p:scale>
      <p:origin x="0" y="0"/>
    </p:cViewPr>
  </p:notesTextViewPr>
  <p:notesViewPr>
    <p:cSldViewPr snapToGrid="0" snapToObjects="1">
      <p:cViewPr varScale="1">
        <p:scale>
          <a:sx n="73" d="100"/>
          <a:sy n="73" d="100"/>
        </p:scale>
        <p:origin x="4134"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Cannon" userId="99f06ca146974bb3" providerId="LiveId" clId="{8A807E57-41A5-4D8F-AE00-7DC815075225}"/>
    <pc:docChg chg="undo custSel modSld">
      <pc:chgData name="Chris Cannon" userId="99f06ca146974bb3" providerId="LiveId" clId="{8A807E57-41A5-4D8F-AE00-7DC815075225}" dt="2026-07-17T14:37:18.333" v="228" actId="6549"/>
      <pc:docMkLst>
        <pc:docMk/>
      </pc:docMkLst>
      <pc:sldChg chg="modSp mod modNotesTx">
        <pc:chgData name="Chris Cannon" userId="99f06ca146974bb3" providerId="LiveId" clId="{8A807E57-41A5-4D8F-AE00-7DC815075225}" dt="2026-07-16T21:11:43.903" v="141" actId="20577"/>
        <pc:sldMkLst>
          <pc:docMk/>
          <pc:sldMk cId="0" sldId="257"/>
        </pc:sldMkLst>
        <pc:spChg chg="mod">
          <ac:chgData name="Chris Cannon" userId="99f06ca146974bb3" providerId="LiveId" clId="{8A807E57-41A5-4D8F-AE00-7DC815075225}" dt="2026-07-16T21:10:06.321" v="58" actId="1076"/>
          <ac:spMkLst>
            <pc:docMk/>
            <pc:sldMk cId="0" sldId="257"/>
            <ac:spMk id="4" creationId="{00000000-0000-0000-0000-000000000000}"/>
          </ac:spMkLst>
        </pc:spChg>
        <pc:spChg chg="mod">
          <ac:chgData name="Chris Cannon" userId="99f06ca146974bb3" providerId="LiveId" clId="{8A807E57-41A5-4D8F-AE00-7DC815075225}" dt="2026-07-16T21:11:43.903" v="141" actId="20577"/>
          <ac:spMkLst>
            <pc:docMk/>
            <pc:sldMk cId="0" sldId="257"/>
            <ac:spMk id="5" creationId="{00000000-0000-0000-0000-000000000000}"/>
          </ac:spMkLst>
        </pc:spChg>
      </pc:sldChg>
      <pc:sldChg chg="modSp mod modNotesTx">
        <pc:chgData name="Chris Cannon" userId="99f06ca146974bb3" providerId="LiveId" clId="{8A807E57-41A5-4D8F-AE00-7DC815075225}" dt="2026-07-17T14:37:18.333" v="228" actId="6549"/>
        <pc:sldMkLst>
          <pc:docMk/>
          <pc:sldMk cId="0" sldId="259"/>
        </pc:sldMkLst>
        <pc:spChg chg="mod">
          <ac:chgData name="Chris Cannon" userId="99f06ca146974bb3" providerId="LiveId" clId="{8A807E57-41A5-4D8F-AE00-7DC815075225}" dt="2026-07-16T18:00:57.458" v="21" actId="20577"/>
          <ac:spMkLst>
            <pc:docMk/>
            <pc:sldMk cId="0" sldId="259"/>
            <ac:spMk id="25" creationId="{00000000-0000-0000-0000-000000000000}"/>
          </ac:spMkLst>
        </pc:spChg>
      </pc:sldChg>
      <pc:sldChg chg="modNotesTx">
        <pc:chgData name="Chris Cannon" userId="99f06ca146974bb3" providerId="LiveId" clId="{8A807E57-41A5-4D8F-AE00-7DC815075225}" dt="2026-07-16T16:10:18.083" v="3" actId="6549"/>
        <pc:sldMkLst>
          <pc:docMk/>
          <pc:sldMk cId="0" sldId="260"/>
        </pc:sldMkLst>
      </pc:sldChg>
      <pc:sldChg chg="modNotesTx">
        <pc:chgData name="Chris Cannon" userId="99f06ca146974bb3" providerId="LiveId" clId="{8A807E57-41A5-4D8F-AE00-7DC815075225}" dt="2026-07-16T21:14:30.038" v="208" actId="20577"/>
        <pc:sldMkLst>
          <pc:docMk/>
          <pc:sldMk cId="0" sldId="261"/>
        </pc:sldMkLst>
      </pc:sldChg>
      <pc:sldChg chg="modNotesTx">
        <pc:chgData name="Chris Cannon" userId="99f06ca146974bb3" providerId="LiveId" clId="{8A807E57-41A5-4D8F-AE00-7DC815075225}" dt="2026-07-16T21:24:23.596" v="219" actId="20577"/>
        <pc:sldMkLst>
          <pc:docMk/>
          <pc:sldMk cId="0"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2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PREAMBLE (~15-20 sec): "Thank you for having me. Over the next few minutes, I'll walk through a commercialization strategy for FedEx's Monitoring &amp; Intervention and Sensor portfolio — where I see the biggest opportunities, and where I'd focus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1 (~15 sec): "In July 2026, FedEx consolidated fragmented healthcare capability — certifications, service centers, leadership — under one organization: Life Sciences. This presentation proposes the same move for M&amp;I and Sensors: consolidate Surround, </a:t>
            </a:r>
            <a:r>
              <a:rPr lang="en-US" dirty="0" err="1"/>
              <a:t>SenseAware</a:t>
            </a:r>
            <a:r>
              <a:rPr lang="en-US" dirty="0"/>
              <a:t>, and RFID under one commercial structure — packaging, pricing, and positioning — instead of letting them keep evolving independently."
BEAT 2 (~25 sec): "Both products generate continuous, real-time signal on a shipment's condition and location. What differs is who acts on that signal — Surround's team intervenes on your behalf; SenseAware Mobile puts the signal directly in the customer's hands. Healthcare's track record validates both models at once. And this isn't just my read — FedEx's own CEO said the point directly, tying a recent divestiture to sharpening focus on 'healthcare, automotive, aerospace and data centers.' Aerospace is already on FedEx's own list. The next move is applying a playbook that's already working, not inventing a new one."
BEAT 3-4, RFID (~30 sec): "RFID is different — it's internal infrastructure today, not a customer product yet, so I'm not forcing it into this platform card. But it's not irrelevant: Surround's predictions run on scan and conveyance data, the same data RFID generates, so better internal visibility raises the ceiling on what Surround can promise. Longer term, that's the seed of the Control Tower capability this portfolio is heading toward — a unified view combining in-transit and in-facility data, not just RFID as a standalone line item."
BEAT 5, governance close (~30 sec): "As RFID matures into a customer product, FedEx should apply the lesson already learned twice — build in commercial discipline from day one. And that discipline should extend to future business units too, not just products — a regular cross-BU cadence keeps Life Sciences, aerospace, and whatever comes next from drifting independently."
NOTE: Life Sciences parallel is directional, not literal — don't overclaim as proof the exact pricing/packaging problem is already solved elsewhere.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1 (~12 sec): "Pricing didn't evolve as one system — it evolved as three, plus a fourth product, RFID, with no commercial pricing model at all yet."
BEAT 2 (~18 sec): "Forcing everything onto one three-tier ladder would be artificial — Surround and SenseAware Mobile solve different problems. Surround is assisted — FedEx's team acts on your behalf. SenseAware Mobile is self-directed — you act on the data yourself. The fix isn't one shared ladder, it's one shared discipline."
BEAT 3 (~22 sec): "Two concrete examples where naming needs fixing. First: Priority Alert reads like it predates Surround's platform build — a dedicated personal relationship instead of a system-orchestrated team, marketed as if it's a separate line rather than a legacy one. Second: 'SenseAware' currently names two different things — a bundled Surround feature and a standalone product — which blurs the line for sales and customers alike." CAVEAT if pressed on Priority Alert: this is a read of public product pages, not confirmed internal structure.
BEAT 4 (~20 sec — the deck's actual discount/incentive lever): "On commitment: move toward subscription-first, with Single Journey as the low-friction way in. But I wouldn't eliminate Single Journey as a standing option — some customers are genuinely low-frequency, high-value shippers, and removing their option risks pushing them to a competitor. Instead, strengthen the nudge — for example, after a customer's second or third Single Journey shipment, proactively offer subscription pricing rather than waiting for them to ask."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BEAT 1 (~15 sec): "The value behind this works — healthcare's success is built on exactly this mechanic: active protection, continuous monitoring, real revenue behind it. What's missing isn't proof the value is real. It's one consistent way of telling customers about it: 'FedEx doesn't just ship your shipment. We protect it.'"</a:t>
            </a:r>
          </a:p>
          <a:p>
            <a:endParaRPr dirty="0"/>
          </a:p>
          <a:p>
            <a:r>
              <a:rPr dirty="0"/>
              <a:t>BEAT 2 (~18 sec): "Three examples, each at a different stage of readiness — healthcare, real and already running. Aerospace, a named FedEx growth vertical with no dedicated motion yet. Data centers, also named by FedEx's own CEO — illustrative here, since </a:t>
            </a:r>
            <a:r>
              <a:rPr dirty="0" err="1"/>
              <a:t>SenseAware</a:t>
            </a:r>
            <a:r>
              <a:rPr dirty="0"/>
              <a:t> Mobile's sensors are a natural fit for monitoring server hardware in transit, not a claimed customer story."</a:t>
            </a:r>
          </a:p>
          <a:p>
            <a:endParaRPr dirty="0"/>
          </a:p>
          <a:p>
            <a:r>
              <a:rPr dirty="0"/>
              <a:t>BEAT 3 (~18 sec): "Sales enablement: a starting decision framework — industry against shipment sensitivity, initial tier recommendation at the intersection. Not a finished rulebook — a hypothesis to validate and refine with real </a:t>
            </a:r>
            <a:r>
              <a:t>data</a:t>
            </a:r>
            <a:r>
              <a:rPr lang="en-US"/>
              <a:t> such as</a:t>
            </a:r>
            <a:r>
              <a:t> </a:t>
            </a:r>
            <a:r>
              <a:rPr dirty="0"/>
              <a:t>shipment volume by tier and industry, intervention frequency, tenure by tier. Something a rep can use on day one and get sharper every quarter."</a:t>
            </a:r>
          </a:p>
          <a:p>
            <a:endParaRPr dirty="0"/>
          </a:p>
          <a:p>
            <a:r>
              <a:rPr dirty="0"/>
              <a:t>Reference the sales enablement mockup here if asked for specifics — see separate mockup file.</a:t>
            </a:r>
            <a:endParaRPr lang="en-US" dirty="0"/>
          </a:p>
          <a:p>
            <a:endParaRPr lang="en-US" dirty="0"/>
          </a:p>
          <a:p>
            <a:r>
              <a:rPr lang="en-US" dirty="0"/>
              <a:t>If asked about industry fit:</a:t>
            </a:r>
          </a:p>
          <a:p>
            <a:r>
              <a:rPr lang="en-US" dirty="0"/>
              <a:t>“Which model fits isn't really determined by the customer's industry — it's determined by three things about the specific shipment or relationship:</a:t>
            </a:r>
          </a:p>
          <a:p>
            <a:r>
              <a:rPr lang="en-US" b="1" dirty="0"/>
              <a:t>Stakes and urgency</a:t>
            </a:r>
            <a:r>
              <a:rPr lang="en-US" dirty="0"/>
              <a:t> — does something need someone acting on it immediately, or does it just need to be known and verified after the fact?</a:t>
            </a:r>
          </a:p>
          <a:p>
            <a:r>
              <a:rPr lang="en-US" b="1" dirty="0"/>
              <a:t>In-house capability</a:t>
            </a:r>
            <a:r>
              <a:rPr lang="en-US" dirty="0"/>
              <a:t> — does the customer already have an ops team that wants to act on real-time data themselves, or do they want FedEx to handle it end-to-end?</a:t>
            </a:r>
          </a:p>
          <a:p>
            <a:r>
              <a:rPr lang="en-US" b="1" dirty="0"/>
              <a:t>Volume and frequency</a:t>
            </a:r>
            <a:r>
              <a:rPr lang="en-US" dirty="0"/>
              <a:t> — is it worth building internal tooling around self-directed data, or is occasional shipping better served by FedEx just doing it?</a:t>
            </a:r>
          </a:p>
          <a:p>
            <a:r>
              <a:rPr lang="en-US" dirty="0"/>
              <a:t>Industry is a proxy for these, not the driver itself — which is exactly why the same healthcare customer might need both models on different shipments."</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(~8 sec): "So how do we make sure customers actually experience — and see — that value?"
BEAT 1 (~28 sec): "Four steps, each with a concrete mechanism, not just a principle. Lower the trial barrier — surface Single Journey as the default suggested option at booking for eligible shipments, instead of requiring the customer to already know to ask for it. Define value milestones — flag the first intervention or cost-avoidance event within 24 hours, not a monthly report. Build the renewal playbook — auto-generate a one-page ROI summary 60 days before renewal. Embed in account conversations — add it as a fixed line item on the quarterly business review agenda for key accounts, so it's raised by default, not left to memory."
BEAT 2 (~18 sec): "Two additions worth naming. First — consolidating Priority Alert means real customers on a real product need a migration path: a phased, supported transition — mapping each customer to their nearest equivalent tier, communicating in advance, keeping a human point of contact through the change. Not a flip of a switch."
BEAT 3 (~12 sec): "Second — RFID is heading toward a customer-facing product. Build this same trial-to-subscription motion for it now, so it launches with commercial discipline instead of needing to be fixed later."
CLARIFICATION if asked about QBR point: enterprise account teams already hold recurring quarterly check-ins with major customers; this makes M&amp;I a guaranteed agenda line rather than something only raised if a rep thinks of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1 (~10 sec): "Four metrics, each tied to a specific move in this strategy — not a generic scorecard."
BEAT 2 (~20 sec): "Adoption rate and subscription conversion track whether the trial-to-subscription funnel from Distribution is actually working. Legacy migration rate is new — it measures whether Priority Alert accounts actually move onto the unified platform, not just whether the policy exists on paper. Net Revenue Retention is the outcome metric."
BEAT 3 (~8 sec): "If any one of these stalls, it tells you exactly which part of the strategy needs attention."
BEAT 4 (~8 sec): "Subscription conversion shouldn't be static — test trial length, milestone timing, and incentive structure systematically, not just track the number.“</a:t>
            </a:r>
          </a:p>
          <a:p>
            <a:endParaRPr lang="en-US" dirty="0"/>
          </a:p>
          <a:p>
            <a:r>
              <a:rPr lang="en-US" dirty="0"/>
              <a:t>BEAT 5: "That's the strategy — simplify the portfolio, price and package it consistently, tell one story backed by real proof, make adoption something we build for rather than hope for, and measure the parts that actually move the outcome. At this point, I’d be happy to answer any questions you may have."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if asked for sourcing on any specific claim.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0E5C"/>
        </a:solidFill>
        <a:effectLst/>
      </p:bgPr>
    </p:bg>
    <p:spTree>
      <p:nvGrpSpPr>
        <p:cNvPr id="1" name=""/>
        <p:cNvGrpSpPr/>
        <p:nvPr/>
      </p:nvGrpSpPr>
      <p:grpSpPr>
        <a:xfrm>
          <a:off x="0" y="0"/>
          <a:ext cx="0" cy="0"/>
          <a:chOff x="0" y="0"/>
          <a:chExt cx="0" cy="0"/>
        </a:xfrm>
      </p:grpSpPr>
      <p:sp>
        <p:nvSpPr>
          <p:cNvPr id="2" name="Shape 0"/>
          <p:cNvSpPr/>
          <p:nvPr/>
        </p:nvSpPr>
        <p:spPr>
          <a:xfrm>
            <a:off x="9052560" y="548640"/>
            <a:ext cx="3291840" cy="3291840"/>
          </a:xfrm>
          <a:prstGeom prst="ellipse">
            <a:avLst/>
          </a:prstGeom>
          <a:solidFill>
            <a:srgbClr val="4D148C">
              <a:alpha val="60000"/>
            </a:srgbClr>
          </a:solidFill>
          <a:ln/>
        </p:spPr>
        <p:txBody>
          <a:bodyPr/>
          <a:lstStyle/>
          <a:p>
            <a:endParaRPr lang="en-US"/>
          </a:p>
        </p:txBody>
      </p:sp>
      <p:sp>
        <p:nvSpPr>
          <p:cNvPr id="3" name="Shape 1"/>
          <p:cNvSpPr/>
          <p:nvPr/>
        </p:nvSpPr>
        <p:spPr>
          <a:xfrm>
            <a:off x="10149840" y="1920240"/>
            <a:ext cx="2743200" cy="2743200"/>
          </a:xfrm>
          <a:prstGeom prst="ellipse">
            <a:avLst/>
          </a:prstGeom>
          <a:solidFill>
            <a:srgbClr val="6A3AA8">
              <a:alpha val="65000"/>
            </a:srgbClr>
          </a:solidFill>
          <a:ln/>
        </p:spPr>
        <p:txBody>
          <a:bodyPr/>
          <a:lstStyle/>
          <a:p>
            <a:endParaRPr lang="en-US"/>
          </a:p>
        </p:txBody>
      </p:sp>
      <p:sp>
        <p:nvSpPr>
          <p:cNvPr id="4" name="Shape 2"/>
          <p:cNvSpPr/>
          <p:nvPr/>
        </p:nvSpPr>
        <p:spPr>
          <a:xfrm>
            <a:off x="8778240" y="3017520"/>
            <a:ext cx="2194560" cy="2194560"/>
          </a:xfrm>
          <a:prstGeom prst="ellipse">
            <a:avLst/>
          </a:prstGeom>
          <a:solidFill>
            <a:srgbClr val="FF6600">
              <a:alpha val="45000"/>
            </a:srgbClr>
          </a:solidFill>
          <a:ln/>
        </p:spPr>
        <p:txBody>
          <a:bodyPr/>
          <a:lstStyle/>
          <a:p>
            <a:endParaRPr lang="en-US"/>
          </a:p>
        </p:txBody>
      </p:sp>
      <p:sp>
        <p:nvSpPr>
          <p:cNvPr id="5" name="Text 3"/>
          <p:cNvSpPr/>
          <p:nvPr/>
        </p:nvSpPr>
        <p:spPr>
          <a:xfrm>
            <a:off x="640080" y="1965960"/>
            <a:ext cx="8686800" cy="365760"/>
          </a:xfrm>
          <a:prstGeom prst="rect">
            <a:avLst/>
          </a:prstGeom>
          <a:noFill/>
          <a:ln/>
        </p:spPr>
        <p:txBody>
          <a:bodyPr wrap="square" rtlCol="0" anchor="ctr"/>
          <a:lstStyle/>
          <a:p>
            <a:pPr marL="0" indent="0">
              <a:buNone/>
            </a:pPr>
            <a:r>
              <a:rPr lang="en-US" sz="1300" b="1" kern="0" spc="150" dirty="0">
                <a:solidFill>
                  <a:srgbClr val="C9B8E8"/>
                </a:solidFill>
                <a:latin typeface="Calibri" pitchFamily="34" charset="0"/>
                <a:ea typeface="Calibri" pitchFamily="34" charset="-122"/>
                <a:cs typeface="Calibri" pitchFamily="34" charset="-120"/>
              </a:rPr>
              <a:t>BUSINESS STRATEGY PRINCIPAL  —  GO-TO-MARKET &amp; COMMERCIALIZATION</a:t>
            </a:r>
            <a:endParaRPr lang="en-US" sz="1300" dirty="0"/>
          </a:p>
        </p:txBody>
      </p:sp>
      <p:sp>
        <p:nvSpPr>
          <p:cNvPr id="6" name="Text 4"/>
          <p:cNvSpPr/>
          <p:nvPr/>
        </p:nvSpPr>
        <p:spPr>
          <a:xfrm>
            <a:off x="640080" y="2423160"/>
            <a:ext cx="8778240" cy="1188720"/>
          </a:xfrm>
          <a:prstGeom prst="rect">
            <a:avLst/>
          </a:prstGeom>
          <a:noFill/>
          <a:ln/>
        </p:spPr>
        <p:txBody>
          <a:bodyPr wrap="square"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Protect It. Monitor It. Find It.</a:t>
            </a:r>
            <a:endParaRPr lang="en-US" sz="4400" dirty="0"/>
          </a:p>
        </p:txBody>
      </p:sp>
      <p:sp>
        <p:nvSpPr>
          <p:cNvPr id="7" name="Text 5"/>
          <p:cNvSpPr/>
          <p:nvPr/>
        </p:nvSpPr>
        <p:spPr>
          <a:xfrm>
            <a:off x="640080" y="3611880"/>
            <a:ext cx="8046720" cy="457200"/>
          </a:xfrm>
          <a:prstGeom prst="rect">
            <a:avLst/>
          </a:prstGeom>
          <a:noFill/>
          <a:ln/>
        </p:spPr>
        <p:txBody>
          <a:bodyPr wrap="square" rtlCol="0" anchor="ctr"/>
          <a:lstStyle/>
          <a:p>
            <a:pPr marL="0" indent="0">
              <a:buNone/>
            </a:pPr>
            <a:r>
              <a:rPr lang="en-US" sz="1500" i="1" dirty="0">
                <a:solidFill>
                  <a:srgbClr val="D8CDEF"/>
                </a:solidFill>
                <a:latin typeface="Calibri" pitchFamily="34" charset="0"/>
                <a:ea typeface="Calibri" pitchFamily="34" charset="-122"/>
                <a:cs typeface="Calibri" pitchFamily="34" charset="-120"/>
              </a:rPr>
              <a:t>A commercialization strategy for FedEx Monitoring &amp; Intervention and Sensor Solutions</a:t>
            </a:r>
            <a:endParaRPr lang="en-US" sz="1500" dirty="0"/>
          </a:p>
        </p:txBody>
      </p:sp>
      <p:sp>
        <p:nvSpPr>
          <p:cNvPr id="8" name="Shape 6"/>
          <p:cNvSpPr/>
          <p:nvPr/>
        </p:nvSpPr>
        <p:spPr>
          <a:xfrm>
            <a:off x="640080" y="4297680"/>
            <a:ext cx="1005840" cy="0"/>
          </a:xfrm>
          <a:prstGeom prst="line">
            <a:avLst/>
          </a:prstGeom>
          <a:noFill/>
          <a:ln w="38100">
            <a:solidFill>
              <a:srgbClr val="FF6600"/>
            </a:solidFill>
            <a:prstDash val="solid"/>
          </a:ln>
        </p:spPr>
        <p:txBody>
          <a:bodyPr/>
          <a:lstStyle/>
          <a:p>
            <a:endParaRPr lang="en-US"/>
          </a:p>
        </p:txBody>
      </p:sp>
      <p:sp>
        <p:nvSpPr>
          <p:cNvPr id="9" name="Text 7"/>
          <p:cNvSpPr/>
          <p:nvPr/>
        </p:nvSpPr>
        <p:spPr>
          <a:xfrm>
            <a:off x="640080" y="4480560"/>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Chris Cannon</a:t>
            </a:r>
            <a:endParaRPr lang="en-US" sz="1400" dirty="0"/>
          </a:p>
        </p:txBody>
      </p:sp>
      <p:sp>
        <p:nvSpPr>
          <p:cNvPr id="10" name="Text 8"/>
          <p:cNvSpPr/>
          <p:nvPr/>
        </p:nvSpPr>
        <p:spPr>
          <a:xfrm>
            <a:off x="640080" y="4800600"/>
            <a:ext cx="4572000" cy="274320"/>
          </a:xfrm>
          <a:prstGeom prst="rect">
            <a:avLst/>
          </a:prstGeom>
          <a:noFill/>
          <a:ln/>
        </p:spPr>
        <p:txBody>
          <a:bodyPr wrap="square" rtlCol="0" anchor="ctr"/>
          <a:lstStyle/>
          <a:p>
            <a:pPr marL="0" indent="0">
              <a:buNone/>
            </a:pPr>
            <a:r>
              <a:rPr lang="en-US" sz="1100" dirty="0">
                <a:solidFill>
                  <a:srgbClr val="B9A9DA"/>
                </a:solidFill>
                <a:latin typeface="Calibri" pitchFamily="34" charset="0"/>
                <a:ea typeface="Calibri" pitchFamily="34" charset="-122"/>
                <a:cs typeface="Calibri" pitchFamily="34" charset="-120"/>
              </a:rPr>
              <a:t>Candidate Presentation  —  July 17,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marL="0" indent="0">
              <a:buNone/>
            </a:pPr>
            <a:r>
              <a:rPr lang="en-US" sz="1200" b="1" kern="0" spc="100" dirty="0">
                <a:solidFill>
                  <a:srgbClr val="FF6600"/>
                </a:solidFill>
                <a:latin typeface="Calibri" pitchFamily="34" charset="0"/>
                <a:ea typeface="Calibri" pitchFamily="34" charset="-122"/>
                <a:cs typeface="Calibri" pitchFamily="34" charset="-120"/>
              </a:rPr>
              <a:t>1  —  PORTFOLIO STRATEGY</a:t>
            </a:r>
            <a:endParaRPr lang="en-US" sz="1200" dirty="0"/>
          </a:p>
        </p:txBody>
      </p:sp>
      <p:sp>
        <p:nvSpPr>
          <p:cNvPr id="3" name="Text 1"/>
          <p:cNvSpPr/>
          <p:nvPr/>
        </p:nvSpPr>
        <p:spPr>
          <a:xfrm>
            <a:off x="457200" y="548640"/>
            <a:ext cx="11247120" cy="685800"/>
          </a:xfrm>
          <a:prstGeom prst="rect">
            <a:avLst/>
          </a:prstGeom>
          <a:noFill/>
          <a:ln/>
        </p:spPr>
        <p:txBody>
          <a:bodyPr wrap="square" rtlCol="0" anchor="ctr"/>
          <a:lstStyle/>
          <a:p>
            <a:pPr marL="0" indent="0">
              <a:buNone/>
            </a:pPr>
            <a:r>
              <a:rPr lang="en-US" sz="2200" b="1" dirty="0">
                <a:solidFill>
                  <a:srgbClr val="2E0E5C"/>
                </a:solidFill>
                <a:latin typeface="Cambria" pitchFamily="34" charset="0"/>
                <a:ea typeface="Cambria" pitchFamily="34" charset="-122"/>
                <a:cs typeface="Cambria" pitchFamily="34" charset="-120"/>
              </a:rPr>
              <a:t>Turn a disjointed product set into one platform — the same bet FedEx just made elsewhere</a:t>
            </a:r>
            <a:endParaRPr lang="en-US" sz="2200" dirty="0"/>
          </a:p>
        </p:txBody>
      </p:sp>
      <p:sp>
        <p:nvSpPr>
          <p:cNvPr id="4" name="Shape 2"/>
          <p:cNvSpPr/>
          <p:nvPr/>
        </p:nvSpPr>
        <p:spPr>
          <a:xfrm>
            <a:off x="457200" y="1280160"/>
            <a:ext cx="11247120" cy="621792"/>
          </a:xfrm>
          <a:prstGeom prst="roundRect">
            <a:avLst>
              <a:gd name="adj" fmla="val 8824"/>
            </a:avLst>
          </a:prstGeom>
          <a:solidFill>
            <a:srgbClr val="E9E1F5"/>
          </a:solidFill>
          <a:ln/>
        </p:spPr>
        <p:txBody>
          <a:bodyPr/>
          <a:lstStyle/>
          <a:p>
            <a:endParaRPr lang="en-US"/>
          </a:p>
        </p:txBody>
      </p:sp>
      <p:sp>
        <p:nvSpPr>
          <p:cNvPr id="5" name="Text 3"/>
          <p:cNvSpPr/>
          <p:nvPr/>
        </p:nvSpPr>
        <p:spPr>
          <a:xfrm>
            <a:off x="685800" y="1280160"/>
            <a:ext cx="10789920" cy="621792"/>
          </a:xfrm>
          <a:prstGeom prst="rect">
            <a:avLst/>
          </a:prstGeom>
          <a:noFill/>
          <a:ln/>
        </p:spPr>
        <p:txBody>
          <a:bodyPr wrap="square" rtlCol="0" anchor="ctr"/>
          <a:lstStyle/>
          <a:p>
            <a:pPr marL="0" indent="0">
              <a:buNone/>
            </a:pPr>
            <a:r>
              <a:rPr lang="en-US" sz="1250" b="1" i="1" dirty="0">
                <a:solidFill>
                  <a:srgbClr val="2E0E5C"/>
                </a:solidFill>
                <a:latin typeface="Calibri" pitchFamily="34" charset="0"/>
                <a:ea typeface="Calibri" pitchFamily="34" charset="-122"/>
                <a:cs typeface="Calibri" pitchFamily="34" charset="-120"/>
              </a:rPr>
              <a:t>“Nearly $10 billion in healthcare transportation revenue exiting FY26.”  </a:t>
            </a:r>
            <a:r>
              <a:rPr lang="en-US" sz="1050" dirty="0">
                <a:solidFill>
                  <a:srgbClr val="6E6A7C"/>
                </a:solidFill>
                <a:latin typeface="Calibri" pitchFamily="34" charset="0"/>
                <a:ea typeface="Calibri" pitchFamily="34" charset="-122"/>
                <a:cs typeface="Calibri" pitchFamily="34" charset="-120"/>
              </a:rPr>
              <a:t>— FedEx Q4 FY26 earnings call. (~11% of FY26’s $94.7B total revenue.)</a:t>
            </a:r>
            <a:endParaRPr lang="en-US" sz="1250" dirty="0"/>
          </a:p>
        </p:txBody>
      </p:sp>
      <p:sp>
        <p:nvSpPr>
          <p:cNvPr id="6" name="Shape 4"/>
          <p:cNvSpPr/>
          <p:nvPr/>
        </p:nvSpPr>
        <p:spPr>
          <a:xfrm>
            <a:off x="457200" y="2084832"/>
            <a:ext cx="5440680" cy="1783080"/>
          </a:xfrm>
          <a:prstGeom prst="roundRect">
            <a:avLst>
              <a:gd name="adj" fmla="val 4103"/>
            </a:avLst>
          </a:prstGeom>
          <a:solidFill>
            <a:srgbClr val="F7F6FA"/>
          </a:solidFill>
          <a:ln/>
          <a:effectLst>
            <a:outerShdw blurRad="63500" dist="25400" dir="5400000" algn="bl" rotWithShape="0">
              <a:srgbClr val="808080">
                <a:alpha val="20000"/>
              </a:srgbClr>
            </a:outerShdw>
          </a:effectLst>
        </p:spPr>
        <p:txBody>
          <a:bodyPr/>
          <a:lstStyle/>
          <a:p>
            <a:endParaRPr lang="en-US"/>
          </a:p>
        </p:txBody>
      </p:sp>
      <p:sp>
        <p:nvSpPr>
          <p:cNvPr id="7" name="Shape 5"/>
          <p:cNvSpPr/>
          <p:nvPr/>
        </p:nvSpPr>
        <p:spPr>
          <a:xfrm>
            <a:off x="713232" y="2340864"/>
            <a:ext cx="530352" cy="530352"/>
          </a:xfrm>
          <a:prstGeom prst="ellipse">
            <a:avLst/>
          </a:prstGeom>
          <a:solidFill>
            <a:srgbClr val="4D148C"/>
          </a:solidFill>
          <a:ln/>
        </p:spPr>
        <p:txBody>
          <a:bodyPr/>
          <a:lstStyle/>
          <a:p>
            <a:endParaRPr lang="en-US"/>
          </a:p>
        </p:txBody>
      </p:sp>
      <p:sp>
        <p:nvSpPr>
          <p:cNvPr id="8" name="Text 6"/>
          <p:cNvSpPr/>
          <p:nvPr/>
        </p:nvSpPr>
        <p:spPr>
          <a:xfrm>
            <a:off x="713232" y="2340864"/>
            <a:ext cx="530352" cy="530352"/>
          </a:xfrm>
          <a:prstGeom prst="rect">
            <a:avLst/>
          </a:prstGeom>
          <a:no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P</a:t>
            </a:r>
            <a:endParaRPr lang="en-US" sz="1900" dirty="0"/>
          </a:p>
        </p:txBody>
      </p:sp>
      <p:sp>
        <p:nvSpPr>
          <p:cNvPr id="9" name="Text 7"/>
          <p:cNvSpPr/>
          <p:nvPr/>
        </p:nvSpPr>
        <p:spPr>
          <a:xfrm>
            <a:off x="1371600" y="2286000"/>
            <a:ext cx="4251960" cy="320040"/>
          </a:xfrm>
          <a:prstGeom prst="rect">
            <a:avLst/>
          </a:prstGeom>
          <a:noFill/>
          <a:ln/>
        </p:spPr>
        <p:txBody>
          <a:bodyPr wrap="square" rtlCol="0" anchor="ctr"/>
          <a:lstStyle/>
          <a:p>
            <a:pPr marL="0" indent="0">
              <a:buNone/>
            </a:pPr>
            <a:r>
              <a:rPr lang="en-US" sz="1700" b="1" dirty="0">
                <a:solidFill>
                  <a:srgbClr val="2E0E5C"/>
                </a:solidFill>
                <a:latin typeface="Cambria" pitchFamily="34" charset="0"/>
                <a:ea typeface="Cambria" pitchFamily="34" charset="-122"/>
                <a:cs typeface="Cambria" pitchFamily="34" charset="-120"/>
              </a:rPr>
              <a:t>“Protect it”</a:t>
            </a:r>
            <a:endParaRPr lang="en-US" sz="1700" dirty="0"/>
          </a:p>
        </p:txBody>
      </p:sp>
      <p:sp>
        <p:nvSpPr>
          <p:cNvPr id="10" name="Text 8"/>
          <p:cNvSpPr/>
          <p:nvPr/>
        </p:nvSpPr>
        <p:spPr>
          <a:xfrm>
            <a:off x="1371600" y="2615184"/>
            <a:ext cx="4251960" cy="274320"/>
          </a:xfrm>
          <a:prstGeom prst="rect">
            <a:avLst/>
          </a:prstGeom>
          <a:noFill/>
          <a:ln/>
        </p:spPr>
        <p:txBody>
          <a:bodyPr wrap="square" rtlCol="0" anchor="ctr"/>
          <a:lstStyle/>
          <a:p>
            <a:pPr marL="0" indent="0">
              <a:buNone/>
            </a:pPr>
            <a:r>
              <a:rPr lang="en-US" sz="1200" b="1" dirty="0">
                <a:solidFill>
                  <a:srgbClr val="FF6600"/>
                </a:solidFill>
                <a:latin typeface="Calibri" pitchFamily="34" charset="0"/>
                <a:ea typeface="Calibri" pitchFamily="34" charset="-122"/>
                <a:cs typeface="Calibri" pitchFamily="34" charset="-120"/>
              </a:rPr>
              <a:t>FedEx Surround</a:t>
            </a:r>
            <a:endParaRPr lang="en-US" sz="1200" dirty="0"/>
          </a:p>
        </p:txBody>
      </p:sp>
      <p:sp>
        <p:nvSpPr>
          <p:cNvPr id="11" name="Text 9"/>
          <p:cNvSpPr/>
          <p:nvPr/>
        </p:nvSpPr>
        <p:spPr>
          <a:xfrm>
            <a:off x="713232" y="3044952"/>
            <a:ext cx="4928616" cy="731520"/>
          </a:xfrm>
          <a:prstGeom prst="rect">
            <a:avLst/>
          </a:prstGeom>
          <a:noFill/>
          <a:ln/>
        </p:spPr>
        <p:txBody>
          <a:bodyPr wrap="square" rtlCol="0" anchor="ctr"/>
          <a:lstStyle/>
          <a:p>
            <a:pPr marL="0" indent="0">
              <a:lnSpc>
                <a:spcPct val="115000"/>
              </a:lnSpc>
              <a:buNone/>
            </a:pPr>
            <a:r>
              <a:rPr lang="en-US" sz="1100" dirty="0">
                <a:solidFill>
                  <a:srgbClr val="231F35"/>
                </a:solidFill>
                <a:latin typeface="Calibri" pitchFamily="34" charset="0"/>
                <a:ea typeface="Calibri" pitchFamily="34" charset="-122"/>
                <a:cs typeface="Calibri" pitchFamily="34" charset="-120"/>
              </a:rPr>
              <a:t>High-value, time-sensitive shipments needing active, expert-led intervention. Embeds SenseAware ID at top tiers.</a:t>
            </a:r>
            <a:endParaRPr lang="en-US" sz="1100" dirty="0"/>
          </a:p>
        </p:txBody>
      </p:sp>
      <p:sp>
        <p:nvSpPr>
          <p:cNvPr id="12" name="Shape 10"/>
          <p:cNvSpPr/>
          <p:nvPr/>
        </p:nvSpPr>
        <p:spPr>
          <a:xfrm>
            <a:off x="6263640" y="2084832"/>
            <a:ext cx="5440680" cy="1783080"/>
          </a:xfrm>
          <a:prstGeom prst="roundRect">
            <a:avLst>
              <a:gd name="adj" fmla="val 4103"/>
            </a:avLst>
          </a:prstGeom>
          <a:solidFill>
            <a:srgbClr val="F7F6FA"/>
          </a:solidFill>
          <a:ln/>
          <a:effectLst>
            <a:outerShdw blurRad="63500" dist="25400" dir="5400000" algn="bl" rotWithShape="0">
              <a:srgbClr val="808080">
                <a:alpha val="20000"/>
              </a:srgbClr>
            </a:outerShdw>
          </a:effectLst>
        </p:spPr>
        <p:txBody>
          <a:bodyPr/>
          <a:lstStyle/>
          <a:p>
            <a:endParaRPr lang="en-US"/>
          </a:p>
        </p:txBody>
      </p:sp>
      <p:sp>
        <p:nvSpPr>
          <p:cNvPr id="13" name="Shape 11"/>
          <p:cNvSpPr/>
          <p:nvPr/>
        </p:nvSpPr>
        <p:spPr>
          <a:xfrm>
            <a:off x="6519672" y="2340864"/>
            <a:ext cx="530352" cy="530352"/>
          </a:xfrm>
          <a:prstGeom prst="ellipse">
            <a:avLst/>
          </a:prstGeom>
          <a:solidFill>
            <a:srgbClr val="4D148C"/>
          </a:solidFill>
          <a:ln/>
        </p:spPr>
        <p:txBody>
          <a:bodyPr/>
          <a:lstStyle/>
          <a:p>
            <a:endParaRPr lang="en-US"/>
          </a:p>
        </p:txBody>
      </p:sp>
      <p:sp>
        <p:nvSpPr>
          <p:cNvPr id="14" name="Text 12"/>
          <p:cNvSpPr/>
          <p:nvPr/>
        </p:nvSpPr>
        <p:spPr>
          <a:xfrm>
            <a:off x="6519672" y="2340864"/>
            <a:ext cx="530352" cy="530352"/>
          </a:xfrm>
          <a:prstGeom prst="rect">
            <a:avLst/>
          </a:prstGeom>
          <a:no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M</a:t>
            </a:r>
            <a:endParaRPr lang="en-US" sz="1900" dirty="0"/>
          </a:p>
        </p:txBody>
      </p:sp>
      <p:sp>
        <p:nvSpPr>
          <p:cNvPr id="15" name="Text 13"/>
          <p:cNvSpPr/>
          <p:nvPr/>
        </p:nvSpPr>
        <p:spPr>
          <a:xfrm>
            <a:off x="7178040" y="2286000"/>
            <a:ext cx="4251960" cy="320040"/>
          </a:xfrm>
          <a:prstGeom prst="rect">
            <a:avLst/>
          </a:prstGeom>
          <a:noFill/>
          <a:ln/>
        </p:spPr>
        <p:txBody>
          <a:bodyPr wrap="square" rtlCol="0" anchor="ctr"/>
          <a:lstStyle/>
          <a:p>
            <a:pPr marL="0" indent="0">
              <a:buNone/>
            </a:pPr>
            <a:r>
              <a:rPr lang="en-US" sz="1700" b="1" dirty="0">
                <a:solidFill>
                  <a:srgbClr val="2E0E5C"/>
                </a:solidFill>
                <a:latin typeface="Cambria" pitchFamily="34" charset="0"/>
                <a:ea typeface="Cambria" pitchFamily="34" charset="-122"/>
                <a:cs typeface="Cambria" pitchFamily="34" charset="-120"/>
              </a:rPr>
              <a:t>“Monitor it”</a:t>
            </a:r>
            <a:endParaRPr lang="en-US" sz="1700" dirty="0"/>
          </a:p>
        </p:txBody>
      </p:sp>
      <p:sp>
        <p:nvSpPr>
          <p:cNvPr id="16" name="Text 14"/>
          <p:cNvSpPr/>
          <p:nvPr/>
        </p:nvSpPr>
        <p:spPr>
          <a:xfrm>
            <a:off x="7178040" y="2615184"/>
            <a:ext cx="4251960" cy="274320"/>
          </a:xfrm>
          <a:prstGeom prst="rect">
            <a:avLst/>
          </a:prstGeom>
          <a:noFill/>
          <a:ln/>
        </p:spPr>
        <p:txBody>
          <a:bodyPr wrap="square" rtlCol="0" anchor="ctr"/>
          <a:lstStyle/>
          <a:p>
            <a:pPr marL="0" indent="0">
              <a:buNone/>
            </a:pPr>
            <a:r>
              <a:rPr lang="en-US" sz="1200" b="1" dirty="0">
                <a:solidFill>
                  <a:srgbClr val="FF6600"/>
                </a:solidFill>
                <a:latin typeface="Calibri" pitchFamily="34" charset="0"/>
                <a:ea typeface="Calibri" pitchFamily="34" charset="-122"/>
                <a:cs typeface="Calibri" pitchFamily="34" charset="-120"/>
              </a:rPr>
              <a:t>SenseAware Mobile</a:t>
            </a:r>
            <a:endParaRPr lang="en-US" sz="1200" dirty="0"/>
          </a:p>
        </p:txBody>
      </p:sp>
      <p:sp>
        <p:nvSpPr>
          <p:cNvPr id="17" name="Text 15"/>
          <p:cNvSpPr/>
          <p:nvPr/>
        </p:nvSpPr>
        <p:spPr>
          <a:xfrm>
            <a:off x="6519672" y="3044952"/>
            <a:ext cx="4928616" cy="731520"/>
          </a:xfrm>
          <a:prstGeom prst="rect">
            <a:avLst/>
          </a:prstGeom>
          <a:noFill/>
          <a:ln/>
        </p:spPr>
        <p:txBody>
          <a:bodyPr wrap="square" rtlCol="0" anchor="ctr"/>
          <a:lstStyle/>
          <a:p>
            <a:pPr marL="0" indent="0">
              <a:lnSpc>
                <a:spcPct val="115000"/>
              </a:lnSpc>
              <a:buNone/>
            </a:pPr>
            <a:r>
              <a:rPr lang="en-US" sz="1100" dirty="0">
                <a:solidFill>
                  <a:srgbClr val="231F35"/>
                </a:solidFill>
                <a:latin typeface="Calibri" pitchFamily="34" charset="0"/>
                <a:ea typeface="Calibri" pitchFamily="34" charset="-122"/>
                <a:cs typeface="Calibri" pitchFamily="34" charset="-120"/>
              </a:rPr>
              <a:t>Condition-sensitive shipments needing continuous, self-managed environmental data.</a:t>
            </a:r>
            <a:endParaRPr lang="en-US" sz="1100" dirty="0"/>
          </a:p>
        </p:txBody>
      </p:sp>
      <p:sp>
        <p:nvSpPr>
          <p:cNvPr id="18" name="Shape 16"/>
          <p:cNvSpPr/>
          <p:nvPr/>
        </p:nvSpPr>
        <p:spPr>
          <a:xfrm>
            <a:off x="457200" y="4041648"/>
            <a:ext cx="11247120" cy="566928"/>
          </a:xfrm>
          <a:prstGeom prst="roundRect">
            <a:avLst>
              <a:gd name="adj" fmla="val 9677"/>
            </a:avLst>
          </a:prstGeom>
          <a:solidFill>
            <a:srgbClr val="FFFFFF"/>
          </a:solidFill>
          <a:ln w="12700">
            <a:solidFill>
              <a:srgbClr val="B9A9DA"/>
            </a:solidFill>
            <a:prstDash val="dash"/>
          </a:ln>
        </p:spPr>
        <p:txBody>
          <a:bodyPr/>
          <a:lstStyle/>
          <a:p>
            <a:endParaRPr lang="en-US"/>
          </a:p>
        </p:txBody>
      </p:sp>
      <p:sp>
        <p:nvSpPr>
          <p:cNvPr id="19" name="Text 17"/>
          <p:cNvSpPr/>
          <p:nvPr/>
        </p:nvSpPr>
        <p:spPr>
          <a:xfrm>
            <a:off x="731520" y="4041648"/>
            <a:ext cx="10698480" cy="566928"/>
          </a:xfrm>
          <a:prstGeom prst="rect">
            <a:avLst/>
          </a:prstGeom>
          <a:noFill/>
          <a:ln/>
        </p:spPr>
        <p:txBody>
          <a:bodyPr wrap="square" rtlCol="0" anchor="ctr"/>
          <a:lstStyle/>
          <a:p>
            <a:pPr marL="0" indent="0">
              <a:buNone/>
            </a:pPr>
            <a:r>
              <a:rPr lang="en-US" sz="1150" b="1" dirty="0">
                <a:solidFill>
                  <a:srgbClr val="2E0E5C"/>
                </a:solidFill>
                <a:latin typeface="Calibri" pitchFamily="34" charset="0"/>
                <a:ea typeface="Calibri" pitchFamily="34" charset="-122"/>
                <a:cs typeface="Calibri" pitchFamily="34" charset="-120"/>
              </a:rPr>
              <a:t>Find It — RFID: </a:t>
            </a:r>
            <a:r>
              <a:rPr lang="en-US" sz="1150" i="1" dirty="0">
                <a:solidFill>
                  <a:srgbClr val="6E6A7C"/>
                </a:solidFill>
                <a:latin typeface="Calibri" pitchFamily="34" charset="0"/>
                <a:ea typeface="Calibri" pitchFamily="34" charset="-122"/>
                <a:cs typeface="Calibri" pitchFamily="34" charset="-120"/>
              </a:rPr>
              <a:t>Internal Visibility Infrastructure (Emerging Customer Capability)</a:t>
            </a:r>
            <a:endParaRPr lang="en-US" sz="1150" dirty="0"/>
          </a:p>
        </p:txBody>
      </p:sp>
      <p:sp>
        <p:nvSpPr>
          <p:cNvPr id="20" name="Shape 18"/>
          <p:cNvSpPr/>
          <p:nvPr/>
        </p:nvSpPr>
        <p:spPr>
          <a:xfrm>
            <a:off x="457200" y="4754880"/>
            <a:ext cx="11247120" cy="1417320"/>
          </a:xfrm>
          <a:prstGeom prst="roundRect">
            <a:avLst>
              <a:gd name="adj" fmla="val 5161"/>
            </a:avLst>
          </a:prstGeom>
          <a:solidFill>
            <a:srgbClr val="2E0E5C"/>
          </a:solidFill>
          <a:ln/>
        </p:spPr>
        <p:txBody>
          <a:bodyPr/>
          <a:lstStyle/>
          <a:p>
            <a:endParaRPr lang="en-US"/>
          </a:p>
        </p:txBody>
      </p:sp>
      <p:sp>
        <p:nvSpPr>
          <p:cNvPr id="21" name="Text 19"/>
          <p:cNvSpPr/>
          <p:nvPr/>
        </p:nvSpPr>
        <p:spPr>
          <a:xfrm>
            <a:off x="777240" y="4882896"/>
            <a:ext cx="10607040" cy="502920"/>
          </a:xfrm>
          <a:prstGeom prst="rect">
            <a:avLst/>
          </a:prstGeom>
          <a:noFill/>
          <a:ln/>
        </p:spPr>
        <p:txBody>
          <a:bodyPr wrap="square"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Position as one coherent platform — </a:t>
            </a:r>
            <a:r>
              <a:rPr lang="en-US" sz="1350" b="1" dirty="0">
                <a:solidFill>
                  <a:srgbClr val="FF6600"/>
                </a:solidFill>
                <a:latin typeface="Calibri" pitchFamily="34" charset="0"/>
                <a:ea typeface="Calibri" pitchFamily="34" charset="-122"/>
                <a:cs typeface="Calibri" pitchFamily="34" charset="-120"/>
              </a:rPr>
              <a:t>FedEx Intelligent Logistics</a:t>
            </a:r>
            <a:r>
              <a:rPr lang="en-US" sz="1350" dirty="0">
                <a:solidFill>
                  <a:srgbClr val="FFFFFF"/>
                </a:solidFill>
                <a:latin typeface="Calibri" pitchFamily="34" charset="0"/>
                <a:ea typeface="Calibri" pitchFamily="34" charset="-122"/>
                <a:cs typeface="Calibri" pitchFamily="34" charset="-120"/>
              </a:rPr>
              <a:t> — where Protect It and Monitor It already share a proven commercial motion.</a:t>
            </a:r>
            <a:endParaRPr lang="en-US" sz="1350" dirty="0"/>
          </a:p>
        </p:txBody>
      </p:sp>
      <p:sp>
        <p:nvSpPr>
          <p:cNvPr id="22" name="Text 20"/>
          <p:cNvSpPr/>
          <p:nvPr/>
        </p:nvSpPr>
        <p:spPr>
          <a:xfrm>
            <a:off x="777240" y="5349240"/>
            <a:ext cx="10607040" cy="365760"/>
          </a:xfrm>
          <a:prstGeom prst="rect">
            <a:avLst/>
          </a:prstGeom>
          <a:noFill/>
          <a:ln/>
        </p:spPr>
        <p:txBody>
          <a:bodyPr wrap="square" rtlCol="0" anchor="ctr"/>
          <a:lstStyle/>
          <a:p>
            <a:pPr marL="0" indent="0">
              <a:buNone/>
            </a:pPr>
            <a:r>
              <a:rPr lang="en-US" sz="1150" i="1" dirty="0">
                <a:solidFill>
                  <a:srgbClr val="D8CDEF"/>
                </a:solidFill>
                <a:latin typeface="Calibri" pitchFamily="34" charset="0"/>
                <a:ea typeface="Calibri" pitchFamily="34" charset="-122"/>
                <a:cs typeface="Calibri" pitchFamily="34" charset="-120"/>
              </a:rPr>
              <a:t>RFID is architected in deliberately as it matures — not forced into false equivalence with the other two.</a:t>
            </a:r>
            <a:endParaRPr lang="en-US" sz="1150" dirty="0"/>
          </a:p>
        </p:txBody>
      </p:sp>
      <p:sp>
        <p:nvSpPr>
          <p:cNvPr id="23" name="Text 21"/>
          <p:cNvSpPr/>
          <p:nvPr/>
        </p:nvSpPr>
        <p:spPr>
          <a:xfrm>
            <a:off x="777240" y="5687568"/>
            <a:ext cx="10607040" cy="411480"/>
          </a:xfrm>
          <a:prstGeom prst="rect">
            <a:avLst/>
          </a:prstGeom>
          <a:noFill/>
          <a:ln/>
        </p:spPr>
        <p:txBody>
          <a:bodyPr wrap="square" rtlCol="0" anchor="ctr"/>
          <a:lstStyle/>
          <a:p>
            <a:pPr marL="0" indent="0">
              <a:buNone/>
            </a:pPr>
            <a:r>
              <a:rPr lang="en-US" sz="1050" i="1" dirty="0">
                <a:solidFill>
                  <a:srgbClr val="B9A9DA"/>
                </a:solidFill>
                <a:latin typeface="Calibri" pitchFamily="34" charset="0"/>
                <a:ea typeface="Calibri" pitchFamily="34" charset="-122"/>
                <a:cs typeface="Calibri" pitchFamily="34" charset="-120"/>
              </a:rPr>
              <a:t>In July 2026, FedEx consolidated fragmented healthcare capability under one organization. This presentation asks for the same discipline here — across pricing, packaging, and positioning.</a:t>
            </a:r>
            <a:endParaRPr lang="en-US" sz="1050" dirty="0"/>
          </a:p>
        </p:txBody>
      </p:sp>
      <p:sp>
        <p:nvSpPr>
          <p:cNvPr id="24" name="Text 22"/>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A7C"/>
                </a:solidFill>
                <a:latin typeface="Calibri" pitchFamily="34" charset="0"/>
                <a:ea typeface="Calibri" pitchFamily="34" charset="-122"/>
                <a:cs typeface="Calibri" pitchFamily="34" charset="-120"/>
              </a:rPr>
              <a:t>Portfolio Strategy</a:t>
            </a:r>
            <a:endParaRPr lang="en-US" sz="900" dirty="0"/>
          </a:p>
        </p:txBody>
      </p:sp>
      <p:sp>
        <p:nvSpPr>
          <p:cNvPr id="25" name="Text 23"/>
          <p:cNvSpPr/>
          <p:nvPr/>
        </p:nvSpPr>
        <p:spPr>
          <a:xfrm>
            <a:off x="6248095" y="6519672"/>
            <a:ext cx="5486400" cy="274320"/>
          </a:xfrm>
          <a:prstGeom prst="rect">
            <a:avLst/>
          </a:prstGeom>
          <a:noFill/>
          <a:ln/>
        </p:spPr>
        <p:txBody>
          <a:bodyPr wrap="square" rtlCol="0" anchor="ctr"/>
          <a:lstStyle/>
          <a:p>
            <a:pPr marL="0" indent="0" algn="r">
              <a:buNone/>
            </a:pPr>
            <a:r>
              <a:rPr lang="en-US" sz="900" dirty="0">
                <a:solidFill>
                  <a:srgbClr val="6E6A7C"/>
                </a:solidFill>
                <a:latin typeface="Calibri" pitchFamily="34" charset="0"/>
                <a:ea typeface="Calibri" pitchFamily="34" charset="-122"/>
                <a:cs typeface="Calibri" pitchFamily="34" charset="-120"/>
              </a:rPr>
              <a:t>Chris Cannon  |  FedEx Business Strategy Principal Interview</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marL="0" indent="0">
              <a:buNone/>
            </a:pPr>
            <a:r>
              <a:rPr lang="en-US" sz="1200" b="1" kern="0" spc="100" dirty="0">
                <a:solidFill>
                  <a:srgbClr val="FF6600"/>
                </a:solidFill>
                <a:latin typeface="Calibri" pitchFamily="34" charset="0"/>
                <a:ea typeface="Calibri" pitchFamily="34" charset="-122"/>
                <a:cs typeface="Calibri" pitchFamily="34" charset="-120"/>
              </a:rPr>
              <a:t>2  —  PACKAGING &amp; PRICING STRATEGY</a:t>
            </a:r>
            <a:endParaRPr lang="en-US" sz="1200" dirty="0"/>
          </a:p>
        </p:txBody>
      </p:sp>
      <p:sp>
        <p:nvSpPr>
          <p:cNvPr id="3" name="Text 1"/>
          <p:cNvSpPr/>
          <p:nvPr/>
        </p:nvSpPr>
        <p:spPr>
          <a:xfrm>
            <a:off x="457200" y="548640"/>
            <a:ext cx="11247120" cy="548640"/>
          </a:xfrm>
          <a:prstGeom prst="rect">
            <a:avLst/>
          </a:prstGeom>
          <a:noFill/>
          <a:ln/>
        </p:spPr>
        <p:txBody>
          <a:bodyPr wrap="square" rtlCol="0" anchor="ctr"/>
          <a:lstStyle/>
          <a:p>
            <a:pPr marL="0" indent="0">
              <a:buNone/>
            </a:pPr>
            <a:r>
              <a:rPr lang="en-US" sz="2400" b="1" dirty="0">
                <a:solidFill>
                  <a:srgbClr val="2E0E5C"/>
                </a:solidFill>
                <a:latin typeface="Cambria" pitchFamily="34" charset="0"/>
                <a:ea typeface="Cambria" pitchFamily="34" charset="-122"/>
                <a:cs typeface="Cambria" pitchFamily="34" charset="-120"/>
              </a:rPr>
              <a:t>One shared language, not one forced ladder</a:t>
            </a:r>
            <a:endParaRPr lang="en-US" sz="2400" dirty="0"/>
          </a:p>
        </p:txBody>
      </p:sp>
      <p:sp>
        <p:nvSpPr>
          <p:cNvPr id="4" name="Text 2"/>
          <p:cNvSpPr/>
          <p:nvPr/>
        </p:nvSpPr>
        <p:spPr>
          <a:xfrm>
            <a:off x="457200" y="1115568"/>
            <a:ext cx="11247120" cy="384048"/>
          </a:xfrm>
          <a:prstGeom prst="rect">
            <a:avLst/>
          </a:prstGeom>
          <a:noFill/>
          <a:ln/>
        </p:spPr>
        <p:txBody>
          <a:bodyPr wrap="square" rtlCol="0" anchor="ctr"/>
          <a:lstStyle/>
          <a:p>
            <a:pPr marL="0" indent="0">
              <a:buNone/>
            </a:pPr>
            <a:r>
              <a:rPr lang="en-US" sz="1200" i="1" dirty="0">
                <a:solidFill>
                  <a:srgbClr val="6E6A7C"/>
                </a:solidFill>
                <a:latin typeface="Calibri" pitchFamily="34" charset="0"/>
                <a:ea typeface="Calibri" pitchFamily="34" charset="-122"/>
                <a:cs typeface="Calibri" pitchFamily="34" charset="-120"/>
              </a:rPr>
              <a:t>Pricing evolved as three separate systems, plus a fourth product with no pricing model yet. Surround and SenseAware Mobile answer different questions — forcing one ladder onto both would be artificial.</a:t>
            </a:r>
            <a:endParaRPr lang="en-US" sz="1200" dirty="0"/>
          </a:p>
        </p:txBody>
      </p:sp>
      <p:sp>
        <p:nvSpPr>
          <p:cNvPr id="5" name="Shape 3"/>
          <p:cNvSpPr/>
          <p:nvPr/>
        </p:nvSpPr>
        <p:spPr>
          <a:xfrm>
            <a:off x="457200" y="1691640"/>
            <a:ext cx="5440680" cy="1965960"/>
          </a:xfrm>
          <a:prstGeom prst="roundRect">
            <a:avLst>
              <a:gd name="adj" fmla="val 3721"/>
            </a:avLst>
          </a:prstGeom>
          <a:solidFill>
            <a:srgbClr val="E9E1F5"/>
          </a:solidFill>
          <a:ln/>
        </p:spPr>
        <p:txBody>
          <a:bodyPr/>
          <a:lstStyle/>
          <a:p>
            <a:endParaRPr lang="en-US"/>
          </a:p>
        </p:txBody>
      </p:sp>
      <p:sp>
        <p:nvSpPr>
          <p:cNvPr id="6" name="Text 4"/>
          <p:cNvSpPr/>
          <p:nvPr/>
        </p:nvSpPr>
        <p:spPr>
          <a:xfrm>
            <a:off x="731520" y="1874520"/>
            <a:ext cx="4892040" cy="365760"/>
          </a:xfrm>
          <a:prstGeom prst="rect">
            <a:avLst/>
          </a:prstGeom>
          <a:noFill/>
          <a:ln/>
        </p:spPr>
        <p:txBody>
          <a:bodyPr wrap="square" rtlCol="0" anchor="ctr"/>
          <a:lstStyle/>
          <a:p>
            <a:pPr marL="0" indent="0">
              <a:buNone/>
            </a:pPr>
            <a:r>
              <a:rPr lang="en-US" sz="1300" b="1" dirty="0">
                <a:solidFill>
                  <a:srgbClr val="2E0E5C"/>
                </a:solidFill>
                <a:latin typeface="Calibri" pitchFamily="34" charset="0"/>
                <a:ea typeface="Calibri" pitchFamily="34" charset="-122"/>
                <a:cs typeface="Calibri" pitchFamily="34" charset="-120"/>
              </a:rPr>
              <a:t>ASSISTED — FedEx Surround</a:t>
            </a:r>
            <a:endParaRPr lang="en-US" sz="1300" dirty="0"/>
          </a:p>
        </p:txBody>
      </p:sp>
      <p:sp>
        <p:nvSpPr>
          <p:cNvPr id="7" name="Text 5"/>
          <p:cNvSpPr/>
          <p:nvPr/>
        </p:nvSpPr>
        <p:spPr>
          <a:xfrm>
            <a:off x="731520" y="2258568"/>
            <a:ext cx="4892040" cy="274320"/>
          </a:xfrm>
          <a:prstGeom prst="rect">
            <a:avLst/>
          </a:prstGeom>
          <a:noFill/>
          <a:ln/>
        </p:spPr>
        <p:txBody>
          <a:bodyPr wrap="square" rtlCol="0" anchor="ctr"/>
          <a:lstStyle/>
          <a:p>
            <a:pPr marL="0" indent="0">
              <a:buNone/>
            </a:pPr>
            <a:r>
              <a:rPr lang="en-US" sz="1100" i="1" dirty="0">
                <a:solidFill>
                  <a:srgbClr val="FF6600"/>
                </a:solidFill>
                <a:latin typeface="Calibri" pitchFamily="34" charset="0"/>
                <a:ea typeface="Calibri" pitchFamily="34" charset="-122"/>
                <a:cs typeface="Calibri" pitchFamily="34" charset="-120"/>
              </a:rPr>
              <a:t>FedEx's team acts on your behalf</a:t>
            </a:r>
            <a:endParaRPr lang="en-US" sz="1100" dirty="0"/>
          </a:p>
        </p:txBody>
      </p:sp>
      <p:sp>
        <p:nvSpPr>
          <p:cNvPr id="8" name="Text 6"/>
          <p:cNvSpPr/>
          <p:nvPr/>
        </p:nvSpPr>
        <p:spPr>
          <a:xfrm>
            <a:off x="731520" y="2606040"/>
            <a:ext cx="4892040" cy="914400"/>
          </a:xfrm>
          <a:prstGeom prst="rect">
            <a:avLst/>
          </a:prstGeom>
          <a:noFill/>
          <a:ln/>
        </p:spPr>
        <p:txBody>
          <a:bodyPr wrap="square" rtlCol="0" anchor="ctr"/>
          <a:lstStyle/>
          <a:p>
            <a:pPr marL="0" indent="0">
              <a:lnSpc>
                <a:spcPct val="120000"/>
              </a:lnSpc>
              <a:buNone/>
            </a:pPr>
            <a:r>
              <a:rPr lang="en-US" sz="1100" dirty="0">
                <a:solidFill>
                  <a:srgbClr val="231F35"/>
                </a:solidFill>
                <a:latin typeface="Calibri" pitchFamily="34" charset="0"/>
                <a:ea typeface="Calibri" pitchFamily="34" charset="-122"/>
                <a:cs typeface="Calibri" pitchFamily="34" charset="-120"/>
              </a:rPr>
              <a:t>Select = visibility only. Preferred = in-network intervention. Premium = out-of-network, white-glove recovery, embedded SenseAware ID.</a:t>
            </a:r>
            <a:endParaRPr lang="en-US" sz="1100" dirty="0"/>
          </a:p>
        </p:txBody>
      </p:sp>
      <p:sp>
        <p:nvSpPr>
          <p:cNvPr id="9" name="Shape 7"/>
          <p:cNvSpPr/>
          <p:nvPr/>
        </p:nvSpPr>
        <p:spPr>
          <a:xfrm>
            <a:off x="6263640" y="1691640"/>
            <a:ext cx="5440680" cy="1965960"/>
          </a:xfrm>
          <a:prstGeom prst="roundRect">
            <a:avLst>
              <a:gd name="adj" fmla="val 3721"/>
            </a:avLst>
          </a:prstGeom>
          <a:solidFill>
            <a:srgbClr val="6A3AA8"/>
          </a:solidFill>
          <a:ln/>
        </p:spPr>
        <p:txBody>
          <a:bodyPr/>
          <a:lstStyle/>
          <a:p>
            <a:endParaRPr lang="en-US"/>
          </a:p>
        </p:txBody>
      </p:sp>
      <p:sp>
        <p:nvSpPr>
          <p:cNvPr id="10" name="Text 8"/>
          <p:cNvSpPr/>
          <p:nvPr/>
        </p:nvSpPr>
        <p:spPr>
          <a:xfrm>
            <a:off x="6537960" y="1874520"/>
            <a:ext cx="4892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SELF-DIRECTED — SenseAware Mobile</a:t>
            </a:r>
            <a:endParaRPr lang="en-US" sz="1300" dirty="0"/>
          </a:p>
        </p:txBody>
      </p:sp>
      <p:sp>
        <p:nvSpPr>
          <p:cNvPr id="11" name="Text 9"/>
          <p:cNvSpPr/>
          <p:nvPr/>
        </p:nvSpPr>
        <p:spPr>
          <a:xfrm>
            <a:off x="6537960" y="2258568"/>
            <a:ext cx="4892040" cy="274320"/>
          </a:xfrm>
          <a:prstGeom prst="rect">
            <a:avLst/>
          </a:prstGeom>
          <a:noFill/>
          <a:ln/>
        </p:spPr>
        <p:txBody>
          <a:bodyPr wrap="square" rtlCol="0" anchor="ctr"/>
          <a:lstStyle/>
          <a:p>
            <a:pPr marL="0" indent="0">
              <a:buNone/>
            </a:pPr>
            <a:r>
              <a:rPr lang="en-US" sz="1100" i="1" dirty="0">
                <a:solidFill>
                  <a:srgbClr val="FFD9B3"/>
                </a:solidFill>
                <a:latin typeface="Calibri" pitchFamily="34" charset="0"/>
                <a:ea typeface="Calibri" pitchFamily="34" charset="-122"/>
                <a:cs typeface="Calibri" pitchFamily="34" charset="-120"/>
              </a:rPr>
              <a:t>You act on the data yourself</a:t>
            </a:r>
            <a:endParaRPr lang="en-US" sz="1100" dirty="0"/>
          </a:p>
        </p:txBody>
      </p:sp>
      <p:sp>
        <p:nvSpPr>
          <p:cNvPr id="12" name="Text 10"/>
          <p:cNvSpPr/>
          <p:nvPr/>
        </p:nvSpPr>
        <p:spPr>
          <a:xfrm>
            <a:off x="6537960" y="2606040"/>
            <a:ext cx="4892040" cy="914400"/>
          </a:xfrm>
          <a:prstGeom prst="rect">
            <a:avLst/>
          </a:prstGeom>
          <a:noFill/>
          <a:ln/>
        </p:spPr>
        <p:txBody>
          <a:bodyPr wrap="square" rtlCol="0" anchor="ctr"/>
          <a:lstStyle/>
          <a:p>
            <a:pPr marL="0" indent="0">
              <a:lnSpc>
                <a:spcPct val="120000"/>
              </a:lnSpc>
              <a:buNone/>
            </a:pPr>
            <a:r>
              <a:rPr lang="en-US" sz="1100" dirty="0">
                <a:solidFill>
                  <a:srgbClr val="F0E9FA"/>
                </a:solidFill>
                <a:latin typeface="Calibri" pitchFamily="34" charset="0"/>
                <a:ea typeface="Calibri" pitchFamily="34" charset="-122"/>
                <a:cs typeface="Calibri" pitchFamily="34" charset="-120"/>
              </a:rPr>
              <a:t>Subscription = recurring, self-managed monitoring. Single Journey = one-off, low-friction way in — the trial entry point.</a:t>
            </a:r>
            <a:endParaRPr lang="en-US" sz="1100" dirty="0"/>
          </a:p>
        </p:txBody>
      </p:sp>
      <p:sp>
        <p:nvSpPr>
          <p:cNvPr id="13" name="Text 11"/>
          <p:cNvSpPr/>
          <p:nvPr/>
        </p:nvSpPr>
        <p:spPr>
          <a:xfrm>
            <a:off x="457200" y="3730752"/>
            <a:ext cx="11247120" cy="365760"/>
          </a:xfrm>
          <a:prstGeom prst="rect">
            <a:avLst/>
          </a:prstGeom>
          <a:noFill/>
          <a:ln/>
        </p:spPr>
        <p:txBody>
          <a:bodyPr wrap="square" rtlCol="0" anchor="ctr"/>
          <a:lstStyle/>
          <a:p>
            <a:pPr marL="0" indent="0">
              <a:buNone/>
            </a:pPr>
            <a:r>
              <a:rPr lang="en-US" sz="1000" i="1" dirty="0">
                <a:solidFill>
                  <a:srgbClr val="6E6A7C"/>
                </a:solidFill>
                <a:latin typeface="Calibri" pitchFamily="34" charset="0"/>
                <a:ea typeface="Calibri" pitchFamily="34" charset="-122"/>
                <a:cs typeface="Calibri" pitchFamily="34" charset="-120"/>
              </a:rPr>
              <a:t>Separately, how customers commit to paying varies too — Surround is contract-based; SenseAware Mobile offers Subscription or Single Journey. Same discipline, different structure, because they solve different problems.</a:t>
            </a:r>
            <a:endParaRPr lang="en-US" sz="1000" dirty="0"/>
          </a:p>
        </p:txBody>
      </p:sp>
      <p:sp>
        <p:nvSpPr>
          <p:cNvPr id="14" name="Shape 12"/>
          <p:cNvSpPr/>
          <p:nvPr/>
        </p:nvSpPr>
        <p:spPr>
          <a:xfrm>
            <a:off x="457200" y="4206240"/>
            <a:ext cx="11247120" cy="1051560"/>
          </a:xfrm>
          <a:prstGeom prst="roundRect">
            <a:avLst>
              <a:gd name="adj" fmla="val 6957"/>
            </a:avLst>
          </a:prstGeom>
          <a:solidFill>
            <a:srgbClr val="F7F6FA"/>
          </a:solidFill>
          <a:ln w="19050">
            <a:solidFill>
              <a:srgbClr val="FF6600"/>
            </a:solidFill>
            <a:prstDash val="solid"/>
          </a:ln>
        </p:spPr>
        <p:txBody>
          <a:bodyPr/>
          <a:lstStyle/>
          <a:p>
            <a:endParaRPr lang="en-US"/>
          </a:p>
        </p:txBody>
      </p:sp>
      <p:sp>
        <p:nvSpPr>
          <p:cNvPr id="15" name="Shape 13"/>
          <p:cNvSpPr/>
          <p:nvPr/>
        </p:nvSpPr>
        <p:spPr>
          <a:xfrm>
            <a:off x="685800" y="4434840"/>
            <a:ext cx="548640" cy="548640"/>
          </a:xfrm>
          <a:prstGeom prst="ellipse">
            <a:avLst/>
          </a:prstGeom>
          <a:solidFill>
            <a:srgbClr val="FF6600"/>
          </a:solidFill>
          <a:ln/>
        </p:spPr>
        <p:txBody>
          <a:bodyPr/>
          <a:lstStyle/>
          <a:p>
            <a:endParaRPr lang="en-US"/>
          </a:p>
        </p:txBody>
      </p:sp>
      <p:sp>
        <p:nvSpPr>
          <p:cNvPr id="16" name="Text 14"/>
          <p:cNvSpPr/>
          <p:nvPr/>
        </p:nvSpPr>
        <p:spPr>
          <a:xfrm>
            <a:off x="685800" y="44348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417320" y="4315968"/>
            <a:ext cx="10012680" cy="822960"/>
          </a:xfrm>
          <a:prstGeom prst="rect">
            <a:avLst/>
          </a:prstGeom>
          <a:noFill/>
          <a:ln/>
        </p:spPr>
        <p:txBody>
          <a:bodyPr wrap="square" rtlCol="0" anchor="ctr"/>
          <a:lstStyle/>
          <a:p>
            <a:pPr marL="0" indent="0">
              <a:lnSpc>
                <a:spcPct val="115000"/>
              </a:lnSpc>
              <a:buNone/>
            </a:pPr>
            <a:r>
              <a:rPr lang="en-US" sz="1150" b="1" dirty="0">
                <a:solidFill>
                  <a:srgbClr val="2E0E5C"/>
                </a:solidFill>
                <a:latin typeface="Calibri" pitchFamily="34" charset="0"/>
                <a:ea typeface="Calibri" pitchFamily="34" charset="-122"/>
                <a:cs typeface="Calibri" pitchFamily="34" charset="-120"/>
              </a:rPr>
              <a:t>Two naming fixes worth calling out: </a:t>
            </a:r>
            <a:r>
              <a:rPr lang="en-US" sz="1150" dirty="0">
                <a:solidFill>
                  <a:srgbClr val="231F35"/>
                </a:solidFill>
                <a:latin typeface="Calibri" pitchFamily="34" charset="0"/>
                <a:ea typeface="Calibri" pitchFamily="34" charset="-122"/>
                <a:cs typeface="Calibri" pitchFamily="34" charset="-120"/>
              </a:rPr>
              <a:t>Priority Alert predates Surround's platform build and should fold in. And “SenseAware” currently names two different things — a bundled Surround feature and a standalone product — which blurs the line for sales and customers alike.</a:t>
            </a:r>
            <a:endParaRPr lang="en-US" sz="1150" dirty="0"/>
          </a:p>
        </p:txBody>
      </p:sp>
      <p:sp>
        <p:nvSpPr>
          <p:cNvPr id="18" name="Shape 16"/>
          <p:cNvSpPr/>
          <p:nvPr/>
        </p:nvSpPr>
        <p:spPr>
          <a:xfrm>
            <a:off x="457200" y="5367528"/>
            <a:ext cx="11247120" cy="960120"/>
          </a:xfrm>
          <a:prstGeom prst="roundRect">
            <a:avLst>
              <a:gd name="adj" fmla="val 7619"/>
            </a:avLst>
          </a:prstGeom>
          <a:solidFill>
            <a:srgbClr val="2E0E5C"/>
          </a:solidFill>
          <a:ln/>
        </p:spPr>
        <p:txBody>
          <a:bodyPr/>
          <a:lstStyle/>
          <a:p>
            <a:endParaRPr lang="en-US"/>
          </a:p>
        </p:txBody>
      </p:sp>
      <p:sp>
        <p:nvSpPr>
          <p:cNvPr id="19" name="Shape 17"/>
          <p:cNvSpPr/>
          <p:nvPr/>
        </p:nvSpPr>
        <p:spPr>
          <a:xfrm>
            <a:off x="685800" y="5532120"/>
            <a:ext cx="566928" cy="566928"/>
          </a:xfrm>
          <a:prstGeom prst="ellipse">
            <a:avLst/>
          </a:prstGeom>
          <a:solidFill>
            <a:srgbClr val="FF6600"/>
          </a:solidFill>
          <a:ln/>
        </p:spPr>
        <p:txBody>
          <a:bodyPr/>
          <a:lstStyle/>
          <a:p>
            <a:endParaRPr lang="en-US"/>
          </a:p>
        </p:txBody>
      </p:sp>
      <p:sp>
        <p:nvSpPr>
          <p:cNvPr id="20" name="Text 18"/>
          <p:cNvSpPr/>
          <p:nvPr/>
        </p:nvSpPr>
        <p:spPr>
          <a:xfrm>
            <a:off x="685800" y="5532120"/>
            <a:ext cx="566928"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p:nvPr/>
        </p:nvSpPr>
        <p:spPr>
          <a:xfrm>
            <a:off x="1417320" y="5458968"/>
            <a:ext cx="10012680" cy="777240"/>
          </a:xfrm>
          <a:prstGeom prst="rect">
            <a:avLst/>
          </a:prstGeom>
          <a:noFill/>
          <a:ln/>
        </p:spPr>
        <p:txBody>
          <a:bodyPr wrap="square" rtlCol="0" anchor="ctr"/>
          <a:lstStyle/>
          <a:p>
            <a:pPr marL="0" indent="0">
              <a:lnSpc>
                <a:spcPct val="110000"/>
              </a:lnSpc>
              <a:buNone/>
            </a:pPr>
            <a:r>
              <a:rPr lang="en-US" sz="1100" b="1" dirty="0">
                <a:solidFill>
                  <a:srgbClr val="FFFFFF"/>
                </a:solidFill>
                <a:latin typeface="Calibri" pitchFamily="34" charset="0"/>
                <a:ea typeface="Calibri" pitchFamily="34" charset="-122"/>
                <a:cs typeface="Calibri" pitchFamily="34" charset="-120"/>
              </a:rPr>
              <a:t>Subscription-first, guardrail intact. </a:t>
            </a:r>
            <a:r>
              <a:rPr lang="en-US" sz="1100" dirty="0">
                <a:solidFill>
                  <a:srgbClr val="E9E1F5"/>
                </a:solidFill>
                <a:latin typeface="Calibri" pitchFamily="34" charset="0"/>
                <a:ea typeface="Calibri" pitchFamily="34" charset="-122"/>
                <a:cs typeface="Calibri" pitchFamily="34" charset="-120"/>
              </a:rPr>
              <a:t>Strengthen the nudge from Single Journey to Subscription — but keep Single Journey available. Low-frequency, high-value shippers who lose that option may go to a competitor instead.</a:t>
            </a:r>
            <a:endParaRPr lang="en-US" sz="1100" dirty="0"/>
          </a:p>
        </p:txBody>
      </p:sp>
      <p:sp>
        <p:nvSpPr>
          <p:cNvPr id="22" name="Text 20"/>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A7C"/>
                </a:solidFill>
                <a:latin typeface="Calibri" pitchFamily="34" charset="0"/>
                <a:ea typeface="Calibri" pitchFamily="34" charset="-122"/>
                <a:cs typeface="Calibri" pitchFamily="34" charset="-120"/>
              </a:rPr>
              <a:t>Packaging &amp; Pricing Strategy</a:t>
            </a:r>
            <a:endParaRPr lang="en-US" sz="900" dirty="0"/>
          </a:p>
        </p:txBody>
      </p:sp>
      <p:sp>
        <p:nvSpPr>
          <p:cNvPr id="23" name="Text 21"/>
          <p:cNvSpPr/>
          <p:nvPr/>
        </p:nvSpPr>
        <p:spPr>
          <a:xfrm>
            <a:off x="6248095" y="6519672"/>
            <a:ext cx="5486400" cy="274320"/>
          </a:xfrm>
          <a:prstGeom prst="rect">
            <a:avLst/>
          </a:prstGeom>
          <a:noFill/>
          <a:ln/>
        </p:spPr>
        <p:txBody>
          <a:bodyPr wrap="square" rtlCol="0" anchor="ctr"/>
          <a:lstStyle/>
          <a:p>
            <a:pPr marL="0" indent="0" algn="r">
              <a:buNone/>
            </a:pPr>
            <a:r>
              <a:rPr lang="en-US" sz="900" dirty="0">
                <a:solidFill>
                  <a:srgbClr val="6E6A7C"/>
                </a:solidFill>
                <a:latin typeface="Calibri" pitchFamily="34" charset="0"/>
                <a:ea typeface="Calibri" pitchFamily="34" charset="-122"/>
                <a:cs typeface="Calibri" pitchFamily="34" charset="-120"/>
              </a:rPr>
              <a:t>Chris Cannon  |  FedEx Business Strategy Principal Interview</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E0E5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marL="0" indent="0">
              <a:buNone/>
            </a:pPr>
            <a:r>
              <a:rPr lang="en-US" sz="1200" b="1" kern="0" spc="100" dirty="0">
                <a:solidFill>
                  <a:srgbClr val="FF6600"/>
                </a:solidFill>
                <a:latin typeface="Calibri" pitchFamily="34" charset="0"/>
                <a:ea typeface="Calibri" pitchFamily="34" charset="-122"/>
                <a:cs typeface="Calibri" pitchFamily="34" charset="-120"/>
              </a:rPr>
              <a:t>3  —  POSITIONING &amp; PROMOTION STRATEGY</a:t>
            </a:r>
            <a:endParaRPr lang="en-US" sz="1200" dirty="0"/>
          </a:p>
        </p:txBody>
      </p:sp>
      <p:sp>
        <p:nvSpPr>
          <p:cNvPr id="3" name="Text 1"/>
          <p:cNvSpPr/>
          <p:nvPr/>
        </p:nvSpPr>
        <p:spPr>
          <a:xfrm>
            <a:off x="457200" y="548640"/>
            <a:ext cx="1124712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One story, built on what already works</a:t>
            </a:r>
            <a:endParaRPr lang="en-US" sz="2400" dirty="0"/>
          </a:p>
        </p:txBody>
      </p:sp>
      <p:sp>
        <p:nvSpPr>
          <p:cNvPr id="4" name="Text 2"/>
          <p:cNvSpPr/>
          <p:nvPr/>
        </p:nvSpPr>
        <p:spPr>
          <a:xfrm>
            <a:off x="457200" y="1280160"/>
            <a:ext cx="11247120" cy="502920"/>
          </a:xfrm>
          <a:prstGeom prst="rect">
            <a:avLst/>
          </a:prstGeom>
          <a:noFill/>
          <a:ln/>
        </p:spPr>
        <p:txBody>
          <a:bodyPr wrap="square" rtlCol="0" anchor="ctr"/>
          <a:lstStyle/>
          <a:p>
            <a:pPr marL="0" indent="0">
              <a:buNone/>
            </a:pPr>
            <a:r>
              <a:rPr lang="en-US" sz="2100" i="1" dirty="0">
                <a:solidFill>
                  <a:srgbClr val="D8CDEF"/>
                </a:solidFill>
                <a:latin typeface="Cambria" pitchFamily="34" charset="0"/>
                <a:ea typeface="Cambria" pitchFamily="34" charset="-122"/>
                <a:cs typeface="Cambria" pitchFamily="34" charset="-120"/>
              </a:rPr>
              <a:t>“FedEx doesn’t just ship your shipment. </a:t>
            </a:r>
            <a:r>
              <a:rPr lang="en-US" sz="2100" b="1" i="1" dirty="0">
                <a:solidFill>
                  <a:srgbClr val="FF6600"/>
                </a:solidFill>
                <a:latin typeface="Cambria" pitchFamily="34" charset="0"/>
                <a:ea typeface="Cambria" pitchFamily="34" charset="-122"/>
                <a:cs typeface="Cambria" pitchFamily="34" charset="-120"/>
              </a:rPr>
              <a:t>We protect it.”</a:t>
            </a:r>
            <a:endParaRPr lang="en-US" sz="2100" dirty="0"/>
          </a:p>
        </p:txBody>
      </p:sp>
      <p:sp>
        <p:nvSpPr>
          <p:cNvPr id="5" name="Shape 3"/>
          <p:cNvSpPr/>
          <p:nvPr/>
        </p:nvSpPr>
        <p:spPr>
          <a:xfrm>
            <a:off x="457200" y="1965960"/>
            <a:ext cx="3520440" cy="1874520"/>
          </a:xfrm>
          <a:prstGeom prst="roundRect">
            <a:avLst>
              <a:gd name="adj" fmla="val 3902"/>
            </a:avLst>
          </a:prstGeom>
          <a:solidFill>
            <a:srgbClr val="4D148C">
              <a:alpha val="85000"/>
            </a:srgbClr>
          </a:solidFill>
          <a:ln/>
        </p:spPr>
        <p:txBody>
          <a:bodyPr/>
          <a:lstStyle/>
          <a:p>
            <a:endParaRPr lang="en-US"/>
          </a:p>
        </p:txBody>
      </p:sp>
      <p:sp>
        <p:nvSpPr>
          <p:cNvPr id="6" name="Shape 4"/>
          <p:cNvSpPr/>
          <p:nvPr/>
        </p:nvSpPr>
        <p:spPr>
          <a:xfrm>
            <a:off x="713232" y="2221992"/>
            <a:ext cx="512064" cy="512064"/>
          </a:xfrm>
          <a:prstGeom prst="ellipse">
            <a:avLst/>
          </a:prstGeom>
          <a:solidFill>
            <a:srgbClr val="FF6600"/>
          </a:solidFill>
          <a:ln/>
        </p:spPr>
        <p:txBody>
          <a:bodyPr/>
          <a:lstStyle/>
          <a:p>
            <a:endParaRPr lang="en-US"/>
          </a:p>
        </p:txBody>
      </p:sp>
      <p:sp>
        <p:nvSpPr>
          <p:cNvPr id="7" name="Text 5"/>
          <p:cNvSpPr/>
          <p:nvPr/>
        </p:nvSpPr>
        <p:spPr>
          <a:xfrm>
            <a:off x="713232" y="2221992"/>
            <a:ext cx="512064" cy="512064"/>
          </a:xfrm>
          <a:prstGeom prst="rect">
            <a:avLst/>
          </a:prstGeom>
          <a:no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H</a:t>
            </a:r>
            <a:endParaRPr lang="en-US" sz="1900" dirty="0"/>
          </a:p>
        </p:txBody>
      </p:sp>
      <p:sp>
        <p:nvSpPr>
          <p:cNvPr id="8" name="Text 6"/>
          <p:cNvSpPr/>
          <p:nvPr/>
        </p:nvSpPr>
        <p:spPr>
          <a:xfrm>
            <a:off x="1325880" y="2185416"/>
            <a:ext cx="24231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Healthcare</a:t>
            </a:r>
            <a:endParaRPr lang="en-US" sz="1400" dirty="0"/>
          </a:p>
        </p:txBody>
      </p:sp>
      <p:sp>
        <p:nvSpPr>
          <p:cNvPr id="9" name="Text 7"/>
          <p:cNvSpPr/>
          <p:nvPr/>
        </p:nvSpPr>
        <p:spPr>
          <a:xfrm>
            <a:off x="1325880" y="2496312"/>
            <a:ext cx="2423160" cy="320040"/>
          </a:xfrm>
          <a:prstGeom prst="rect">
            <a:avLst/>
          </a:prstGeom>
          <a:noFill/>
          <a:ln/>
        </p:spPr>
        <p:txBody>
          <a:bodyPr wrap="square" rtlCol="0" anchor="ctr"/>
          <a:lstStyle/>
          <a:p>
            <a:pPr marL="0" indent="0">
              <a:buNone/>
            </a:pPr>
            <a:r>
              <a:rPr lang="en-US" sz="1050" dirty="0">
                <a:solidFill>
                  <a:srgbClr val="C9B8E8"/>
                </a:solidFill>
                <a:latin typeface="Calibri" pitchFamily="34" charset="0"/>
                <a:ea typeface="Calibri" pitchFamily="34" charset="-122"/>
                <a:cs typeface="Calibri" pitchFamily="34" charset="-120"/>
              </a:rPr>
              <a:t>Real — FedEx Life Sciences</a:t>
            </a:r>
            <a:endParaRPr lang="en-US" sz="1050" dirty="0"/>
          </a:p>
        </p:txBody>
      </p:sp>
      <p:sp>
        <p:nvSpPr>
          <p:cNvPr id="10" name="Shape 8"/>
          <p:cNvSpPr/>
          <p:nvPr/>
        </p:nvSpPr>
        <p:spPr>
          <a:xfrm>
            <a:off x="713232" y="2926080"/>
            <a:ext cx="3008376" cy="0"/>
          </a:xfrm>
          <a:prstGeom prst="line">
            <a:avLst/>
          </a:prstGeom>
          <a:noFill/>
          <a:ln w="12700">
            <a:solidFill>
              <a:srgbClr val="6A3AA8"/>
            </a:solidFill>
            <a:prstDash val="solid"/>
          </a:ln>
        </p:spPr>
        <p:txBody>
          <a:bodyPr/>
          <a:lstStyle/>
          <a:p>
            <a:endParaRPr lang="en-US"/>
          </a:p>
        </p:txBody>
      </p:sp>
      <p:sp>
        <p:nvSpPr>
          <p:cNvPr id="11" name="Text 9"/>
          <p:cNvSpPr/>
          <p:nvPr/>
        </p:nvSpPr>
        <p:spPr>
          <a:xfrm>
            <a:off x="713232" y="3063240"/>
            <a:ext cx="3008376" cy="685800"/>
          </a:xfrm>
          <a:prstGeom prst="rect">
            <a:avLst/>
          </a:prstGeom>
          <a:noFill/>
          <a:ln/>
        </p:spPr>
        <p:txBody>
          <a:bodyPr wrap="square" rtlCol="0" anchor="ctr"/>
          <a:lstStyle/>
          <a:p>
            <a:pPr marL="0" indent="0">
              <a:lnSpc>
                <a:spcPct val="120000"/>
              </a:lnSpc>
              <a:buNone/>
            </a:pPr>
            <a:r>
              <a:rPr lang="en-US" sz="1050" i="1" dirty="0">
                <a:solidFill>
                  <a:srgbClr val="E9E1F5"/>
                </a:solidFill>
                <a:latin typeface="Calibri" pitchFamily="34" charset="0"/>
                <a:ea typeface="Calibri" pitchFamily="34" charset="-122"/>
                <a:cs typeface="Calibri" pitchFamily="34" charset="-120"/>
              </a:rPr>
              <a:t>Consolidated org, ~$10B revenue base</a:t>
            </a:r>
            <a:endParaRPr lang="en-US" sz="1050" dirty="0"/>
          </a:p>
        </p:txBody>
      </p:sp>
      <p:sp>
        <p:nvSpPr>
          <p:cNvPr id="12" name="Shape 10"/>
          <p:cNvSpPr/>
          <p:nvPr/>
        </p:nvSpPr>
        <p:spPr>
          <a:xfrm>
            <a:off x="4297680" y="1965960"/>
            <a:ext cx="3520440" cy="1874520"/>
          </a:xfrm>
          <a:prstGeom prst="roundRect">
            <a:avLst>
              <a:gd name="adj" fmla="val 3902"/>
            </a:avLst>
          </a:prstGeom>
          <a:solidFill>
            <a:srgbClr val="4D148C">
              <a:alpha val="85000"/>
            </a:srgbClr>
          </a:solidFill>
          <a:ln/>
        </p:spPr>
        <p:txBody>
          <a:bodyPr/>
          <a:lstStyle/>
          <a:p>
            <a:endParaRPr lang="en-US"/>
          </a:p>
        </p:txBody>
      </p:sp>
      <p:sp>
        <p:nvSpPr>
          <p:cNvPr id="13" name="Shape 11"/>
          <p:cNvSpPr/>
          <p:nvPr/>
        </p:nvSpPr>
        <p:spPr>
          <a:xfrm>
            <a:off x="4553712" y="2221992"/>
            <a:ext cx="512064" cy="512064"/>
          </a:xfrm>
          <a:prstGeom prst="ellipse">
            <a:avLst/>
          </a:prstGeom>
          <a:solidFill>
            <a:srgbClr val="FF6600"/>
          </a:solidFill>
          <a:ln/>
        </p:spPr>
        <p:txBody>
          <a:bodyPr/>
          <a:lstStyle/>
          <a:p>
            <a:endParaRPr lang="en-US"/>
          </a:p>
        </p:txBody>
      </p:sp>
      <p:sp>
        <p:nvSpPr>
          <p:cNvPr id="14" name="Text 12"/>
          <p:cNvSpPr/>
          <p:nvPr/>
        </p:nvSpPr>
        <p:spPr>
          <a:xfrm>
            <a:off x="4553712" y="2221992"/>
            <a:ext cx="512064" cy="512064"/>
          </a:xfrm>
          <a:prstGeom prst="rect">
            <a:avLst/>
          </a:prstGeom>
          <a:no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A</a:t>
            </a:r>
            <a:endParaRPr lang="en-US" sz="1900" dirty="0"/>
          </a:p>
        </p:txBody>
      </p:sp>
      <p:sp>
        <p:nvSpPr>
          <p:cNvPr id="15" name="Text 13"/>
          <p:cNvSpPr/>
          <p:nvPr/>
        </p:nvSpPr>
        <p:spPr>
          <a:xfrm>
            <a:off x="5166360" y="2185416"/>
            <a:ext cx="24231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Aerospace</a:t>
            </a:r>
            <a:endParaRPr lang="en-US" sz="1400" dirty="0"/>
          </a:p>
        </p:txBody>
      </p:sp>
      <p:sp>
        <p:nvSpPr>
          <p:cNvPr id="16" name="Text 14"/>
          <p:cNvSpPr/>
          <p:nvPr/>
        </p:nvSpPr>
        <p:spPr>
          <a:xfrm>
            <a:off x="5166360" y="2496312"/>
            <a:ext cx="2423160" cy="320040"/>
          </a:xfrm>
          <a:prstGeom prst="rect">
            <a:avLst/>
          </a:prstGeom>
          <a:noFill/>
          <a:ln/>
        </p:spPr>
        <p:txBody>
          <a:bodyPr wrap="square" rtlCol="0" anchor="ctr"/>
          <a:lstStyle/>
          <a:p>
            <a:pPr marL="0" indent="0">
              <a:buNone/>
            </a:pPr>
            <a:r>
              <a:rPr lang="en-US" sz="1050" dirty="0">
                <a:solidFill>
                  <a:srgbClr val="C9B8E8"/>
                </a:solidFill>
                <a:latin typeface="Calibri" pitchFamily="34" charset="0"/>
                <a:ea typeface="Calibri" pitchFamily="34" charset="-122"/>
                <a:cs typeface="Calibri" pitchFamily="34" charset="-120"/>
              </a:rPr>
              <a:t>Named FedEx growth vertical</a:t>
            </a:r>
            <a:endParaRPr lang="en-US" sz="1050" dirty="0"/>
          </a:p>
        </p:txBody>
      </p:sp>
      <p:sp>
        <p:nvSpPr>
          <p:cNvPr id="17" name="Shape 15"/>
          <p:cNvSpPr/>
          <p:nvPr/>
        </p:nvSpPr>
        <p:spPr>
          <a:xfrm>
            <a:off x="4553712" y="2926080"/>
            <a:ext cx="3008376" cy="0"/>
          </a:xfrm>
          <a:prstGeom prst="line">
            <a:avLst/>
          </a:prstGeom>
          <a:noFill/>
          <a:ln w="12700">
            <a:solidFill>
              <a:srgbClr val="6A3AA8"/>
            </a:solidFill>
            <a:prstDash val="solid"/>
          </a:ln>
        </p:spPr>
        <p:txBody>
          <a:bodyPr/>
          <a:lstStyle/>
          <a:p>
            <a:endParaRPr lang="en-US"/>
          </a:p>
        </p:txBody>
      </p:sp>
      <p:sp>
        <p:nvSpPr>
          <p:cNvPr id="18" name="Text 16"/>
          <p:cNvSpPr/>
          <p:nvPr/>
        </p:nvSpPr>
        <p:spPr>
          <a:xfrm>
            <a:off x="4553712" y="3063240"/>
            <a:ext cx="3008376" cy="685800"/>
          </a:xfrm>
          <a:prstGeom prst="rect">
            <a:avLst/>
          </a:prstGeom>
          <a:noFill/>
          <a:ln/>
        </p:spPr>
        <p:txBody>
          <a:bodyPr wrap="square" rtlCol="0" anchor="ctr"/>
          <a:lstStyle/>
          <a:p>
            <a:pPr marL="0" indent="0">
              <a:lnSpc>
                <a:spcPct val="120000"/>
              </a:lnSpc>
              <a:buNone/>
            </a:pPr>
            <a:r>
              <a:rPr lang="en-US" sz="1050" i="1" dirty="0">
                <a:solidFill>
                  <a:srgbClr val="E9E1F5"/>
                </a:solidFill>
                <a:latin typeface="Calibri" pitchFamily="34" charset="0"/>
                <a:ea typeface="Calibri" pitchFamily="34" charset="-122"/>
                <a:cs typeface="Calibri" pitchFamily="34" charset="-120"/>
              </a:rPr>
              <a:t>No dedicated commercial motion yet</a:t>
            </a:r>
            <a:endParaRPr lang="en-US" sz="1050" dirty="0"/>
          </a:p>
        </p:txBody>
      </p:sp>
      <p:sp>
        <p:nvSpPr>
          <p:cNvPr id="19" name="Shape 17"/>
          <p:cNvSpPr/>
          <p:nvPr/>
        </p:nvSpPr>
        <p:spPr>
          <a:xfrm>
            <a:off x="8138160" y="1965960"/>
            <a:ext cx="3520440" cy="1874520"/>
          </a:xfrm>
          <a:prstGeom prst="roundRect">
            <a:avLst>
              <a:gd name="adj" fmla="val 3902"/>
            </a:avLst>
          </a:prstGeom>
          <a:solidFill>
            <a:srgbClr val="4D148C">
              <a:alpha val="85000"/>
            </a:srgbClr>
          </a:solidFill>
          <a:ln/>
        </p:spPr>
        <p:txBody>
          <a:bodyPr/>
          <a:lstStyle/>
          <a:p>
            <a:endParaRPr lang="en-US"/>
          </a:p>
        </p:txBody>
      </p:sp>
      <p:sp>
        <p:nvSpPr>
          <p:cNvPr id="20" name="Shape 18"/>
          <p:cNvSpPr/>
          <p:nvPr/>
        </p:nvSpPr>
        <p:spPr>
          <a:xfrm>
            <a:off x="8394192" y="2221992"/>
            <a:ext cx="512064" cy="512064"/>
          </a:xfrm>
          <a:prstGeom prst="ellipse">
            <a:avLst/>
          </a:prstGeom>
          <a:solidFill>
            <a:srgbClr val="FF6600"/>
          </a:solidFill>
          <a:ln/>
        </p:spPr>
        <p:txBody>
          <a:bodyPr/>
          <a:lstStyle/>
          <a:p>
            <a:endParaRPr lang="en-US"/>
          </a:p>
        </p:txBody>
      </p:sp>
      <p:sp>
        <p:nvSpPr>
          <p:cNvPr id="21" name="Text 19"/>
          <p:cNvSpPr/>
          <p:nvPr/>
        </p:nvSpPr>
        <p:spPr>
          <a:xfrm>
            <a:off x="8394192" y="2221992"/>
            <a:ext cx="512064" cy="512064"/>
          </a:xfrm>
          <a:prstGeom prst="rect">
            <a:avLst/>
          </a:prstGeom>
          <a:no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D</a:t>
            </a:r>
            <a:endParaRPr lang="en-US" sz="1900" dirty="0"/>
          </a:p>
        </p:txBody>
      </p:sp>
      <p:sp>
        <p:nvSpPr>
          <p:cNvPr id="22" name="Text 20"/>
          <p:cNvSpPr/>
          <p:nvPr/>
        </p:nvSpPr>
        <p:spPr>
          <a:xfrm>
            <a:off x="9006840" y="2185416"/>
            <a:ext cx="24231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Centers</a:t>
            </a:r>
            <a:endParaRPr lang="en-US" sz="1400" dirty="0"/>
          </a:p>
        </p:txBody>
      </p:sp>
      <p:sp>
        <p:nvSpPr>
          <p:cNvPr id="23" name="Text 21"/>
          <p:cNvSpPr/>
          <p:nvPr/>
        </p:nvSpPr>
        <p:spPr>
          <a:xfrm>
            <a:off x="9006840" y="2496312"/>
            <a:ext cx="2423160" cy="320040"/>
          </a:xfrm>
          <a:prstGeom prst="rect">
            <a:avLst/>
          </a:prstGeom>
          <a:noFill/>
          <a:ln/>
        </p:spPr>
        <p:txBody>
          <a:bodyPr wrap="square" rtlCol="0" anchor="ctr"/>
          <a:lstStyle/>
          <a:p>
            <a:pPr marL="0" indent="0">
              <a:buNone/>
            </a:pPr>
            <a:r>
              <a:rPr lang="en-US" sz="1050" dirty="0">
                <a:solidFill>
                  <a:srgbClr val="C9B8E8"/>
                </a:solidFill>
                <a:latin typeface="Calibri" pitchFamily="34" charset="0"/>
                <a:ea typeface="Calibri" pitchFamily="34" charset="-122"/>
                <a:cs typeface="Calibri" pitchFamily="34" charset="-120"/>
              </a:rPr>
              <a:t>Named FedEx growth vertical</a:t>
            </a:r>
            <a:endParaRPr lang="en-US" sz="1050" dirty="0"/>
          </a:p>
        </p:txBody>
      </p:sp>
      <p:sp>
        <p:nvSpPr>
          <p:cNvPr id="24" name="Shape 22"/>
          <p:cNvSpPr/>
          <p:nvPr/>
        </p:nvSpPr>
        <p:spPr>
          <a:xfrm>
            <a:off x="8394192" y="2926080"/>
            <a:ext cx="3008376" cy="0"/>
          </a:xfrm>
          <a:prstGeom prst="line">
            <a:avLst/>
          </a:prstGeom>
          <a:noFill/>
          <a:ln w="12700">
            <a:solidFill>
              <a:srgbClr val="6A3AA8"/>
            </a:solidFill>
            <a:prstDash val="solid"/>
          </a:ln>
        </p:spPr>
        <p:txBody>
          <a:bodyPr/>
          <a:lstStyle/>
          <a:p>
            <a:endParaRPr lang="en-US"/>
          </a:p>
        </p:txBody>
      </p:sp>
      <p:sp>
        <p:nvSpPr>
          <p:cNvPr id="25" name="Text 23"/>
          <p:cNvSpPr/>
          <p:nvPr/>
        </p:nvSpPr>
        <p:spPr>
          <a:xfrm>
            <a:off x="8394192" y="3063240"/>
            <a:ext cx="3008376" cy="685800"/>
          </a:xfrm>
          <a:prstGeom prst="rect">
            <a:avLst/>
          </a:prstGeom>
          <a:noFill/>
          <a:ln/>
        </p:spPr>
        <p:txBody>
          <a:bodyPr wrap="square" rtlCol="0" anchor="ctr"/>
          <a:lstStyle/>
          <a:p>
            <a:pPr marL="0" indent="0">
              <a:lnSpc>
                <a:spcPct val="120000"/>
              </a:lnSpc>
              <a:buNone/>
            </a:pPr>
            <a:r>
              <a:rPr lang="en-US" sz="1050" i="1" dirty="0">
                <a:solidFill>
                  <a:srgbClr val="E9E1F5"/>
                </a:solidFill>
                <a:latin typeface="Calibri" pitchFamily="34" charset="0"/>
                <a:ea typeface="Calibri" pitchFamily="34" charset="-122"/>
                <a:cs typeface="Calibri" pitchFamily="34" charset="-120"/>
              </a:rPr>
              <a:t>Illustrative — </a:t>
            </a:r>
            <a:r>
              <a:rPr lang="en-US" sz="1050" i="1" dirty="0" err="1">
                <a:solidFill>
                  <a:srgbClr val="E9E1F5"/>
                </a:solidFill>
                <a:latin typeface="Calibri" pitchFamily="34" charset="0"/>
                <a:ea typeface="Calibri" pitchFamily="34" charset="-122"/>
                <a:cs typeface="Calibri" pitchFamily="34" charset="-120"/>
              </a:rPr>
              <a:t>SenseAware</a:t>
            </a:r>
            <a:r>
              <a:rPr lang="en-US" sz="1050" i="1" dirty="0">
                <a:solidFill>
                  <a:srgbClr val="E9E1F5"/>
                </a:solidFill>
                <a:latin typeface="Calibri" pitchFamily="34" charset="0"/>
                <a:ea typeface="Calibri" pitchFamily="34" charset="-122"/>
                <a:cs typeface="Calibri" pitchFamily="34" charset="-120"/>
              </a:rPr>
              <a:t> Mobile sensors suit server hardware</a:t>
            </a:r>
            <a:endParaRPr lang="en-US" sz="1050" dirty="0"/>
          </a:p>
        </p:txBody>
      </p:sp>
      <p:sp>
        <p:nvSpPr>
          <p:cNvPr id="26" name="Shape 24"/>
          <p:cNvSpPr/>
          <p:nvPr/>
        </p:nvSpPr>
        <p:spPr>
          <a:xfrm>
            <a:off x="457200" y="4160520"/>
            <a:ext cx="11247120" cy="1234440"/>
          </a:xfrm>
          <a:prstGeom prst="roundRect">
            <a:avLst>
              <a:gd name="adj" fmla="val 5926"/>
            </a:avLst>
          </a:prstGeom>
          <a:solidFill>
            <a:srgbClr val="FFFFFF"/>
          </a:solidFill>
          <a:ln/>
        </p:spPr>
        <p:txBody>
          <a:bodyPr/>
          <a:lstStyle/>
          <a:p>
            <a:endParaRPr lang="en-US"/>
          </a:p>
        </p:txBody>
      </p:sp>
      <p:sp>
        <p:nvSpPr>
          <p:cNvPr id="27" name="Shape 25"/>
          <p:cNvSpPr/>
          <p:nvPr/>
        </p:nvSpPr>
        <p:spPr>
          <a:xfrm>
            <a:off x="713232" y="4462272"/>
            <a:ext cx="548640" cy="548640"/>
          </a:xfrm>
          <a:prstGeom prst="ellipse">
            <a:avLst/>
          </a:prstGeom>
          <a:solidFill>
            <a:srgbClr val="4D148C"/>
          </a:solidFill>
          <a:ln/>
        </p:spPr>
        <p:txBody>
          <a:bodyPr/>
          <a:lstStyle/>
          <a:p>
            <a:endParaRPr lang="en-US"/>
          </a:p>
        </p:txBody>
      </p:sp>
      <p:sp>
        <p:nvSpPr>
          <p:cNvPr id="28" name="Text 26"/>
          <p:cNvSpPr/>
          <p:nvPr/>
        </p:nvSpPr>
        <p:spPr>
          <a:xfrm>
            <a:off x="713232" y="4462272"/>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a:t>
            </a:r>
            <a:endParaRPr lang="en-US" sz="2000" dirty="0"/>
          </a:p>
        </p:txBody>
      </p:sp>
      <p:sp>
        <p:nvSpPr>
          <p:cNvPr id="29" name="Text 27"/>
          <p:cNvSpPr/>
          <p:nvPr/>
        </p:nvSpPr>
        <p:spPr>
          <a:xfrm>
            <a:off x="1463040" y="4297680"/>
            <a:ext cx="2743200" cy="320040"/>
          </a:xfrm>
          <a:prstGeom prst="rect">
            <a:avLst/>
          </a:prstGeom>
          <a:noFill/>
          <a:ln/>
        </p:spPr>
        <p:txBody>
          <a:bodyPr wrap="square" rtlCol="0" anchor="ctr"/>
          <a:lstStyle/>
          <a:p>
            <a:pPr marL="0" indent="0">
              <a:buNone/>
            </a:pPr>
            <a:r>
              <a:rPr lang="en-US" sz="1300" b="1" dirty="0">
                <a:solidFill>
                  <a:srgbClr val="2E0E5C"/>
                </a:solidFill>
                <a:latin typeface="Calibri" pitchFamily="34" charset="0"/>
                <a:ea typeface="Calibri" pitchFamily="34" charset="-122"/>
                <a:cs typeface="Calibri" pitchFamily="34" charset="-120"/>
              </a:rPr>
              <a:t>Sales enablement:</a:t>
            </a:r>
            <a:endParaRPr lang="en-US" sz="1300" dirty="0"/>
          </a:p>
        </p:txBody>
      </p:sp>
      <p:sp>
        <p:nvSpPr>
          <p:cNvPr id="30" name="Text 28"/>
          <p:cNvSpPr/>
          <p:nvPr/>
        </p:nvSpPr>
        <p:spPr>
          <a:xfrm>
            <a:off x="1463040" y="4617720"/>
            <a:ext cx="9875520" cy="685800"/>
          </a:xfrm>
          <a:prstGeom prst="rect">
            <a:avLst/>
          </a:prstGeom>
          <a:noFill/>
          <a:ln/>
        </p:spPr>
        <p:txBody>
          <a:bodyPr wrap="square" rtlCol="0" anchor="ctr"/>
          <a:lstStyle/>
          <a:p>
            <a:pPr marL="0" indent="0">
              <a:lnSpc>
                <a:spcPct val="120000"/>
              </a:lnSpc>
              <a:buNone/>
            </a:pPr>
            <a:r>
              <a:rPr lang="en-US" sz="1200" dirty="0">
                <a:solidFill>
                  <a:srgbClr val="231F35"/>
                </a:solidFill>
                <a:latin typeface="Calibri" pitchFamily="34" charset="0"/>
                <a:ea typeface="Calibri" pitchFamily="34" charset="-122"/>
                <a:cs typeface="Calibri" pitchFamily="34" charset="-120"/>
              </a:rPr>
              <a:t>A starting decision framework, not a finished rulebook — industry against shipment sensitivity, initial tier recommendation at the intersection. Refined over time using real shipment volume, intervention frequency, and tenure data by tier.</a:t>
            </a:r>
            <a:endParaRPr lang="en-US" sz="1200" dirty="0"/>
          </a:p>
        </p:txBody>
      </p:sp>
      <p:sp>
        <p:nvSpPr>
          <p:cNvPr id="31" name="Text 29"/>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A7C"/>
                </a:solidFill>
                <a:latin typeface="Calibri" pitchFamily="34" charset="0"/>
                <a:ea typeface="Calibri" pitchFamily="34" charset="-122"/>
                <a:cs typeface="Calibri" pitchFamily="34" charset="-120"/>
              </a:rPr>
              <a:t>Positioning &amp; Promotion Strategy</a:t>
            </a:r>
            <a:endParaRPr lang="en-US" sz="900" dirty="0"/>
          </a:p>
        </p:txBody>
      </p:sp>
      <p:sp>
        <p:nvSpPr>
          <p:cNvPr id="32" name="Text 30"/>
          <p:cNvSpPr/>
          <p:nvPr/>
        </p:nvSpPr>
        <p:spPr>
          <a:xfrm>
            <a:off x="6248095" y="6519672"/>
            <a:ext cx="5486400" cy="274320"/>
          </a:xfrm>
          <a:prstGeom prst="rect">
            <a:avLst/>
          </a:prstGeom>
          <a:noFill/>
          <a:ln/>
        </p:spPr>
        <p:txBody>
          <a:bodyPr wrap="square" rtlCol="0" anchor="ctr"/>
          <a:lstStyle/>
          <a:p>
            <a:pPr marL="0" indent="0" algn="r">
              <a:buNone/>
            </a:pPr>
            <a:r>
              <a:rPr lang="en-US" sz="900" dirty="0">
                <a:solidFill>
                  <a:srgbClr val="6E6A7C"/>
                </a:solidFill>
                <a:latin typeface="Calibri" pitchFamily="34" charset="0"/>
                <a:ea typeface="Calibri" pitchFamily="34" charset="-122"/>
                <a:cs typeface="Calibri" pitchFamily="34" charset="-120"/>
              </a:rPr>
              <a:t>Chris Cannon  |  FedEx Business Strategy Principal Interview</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marL="0" indent="0">
              <a:buNone/>
            </a:pPr>
            <a:r>
              <a:rPr lang="en-US" sz="1200" b="1" kern="0" spc="100" dirty="0">
                <a:solidFill>
                  <a:srgbClr val="FF6600"/>
                </a:solidFill>
                <a:latin typeface="Calibri" pitchFamily="34" charset="0"/>
                <a:ea typeface="Calibri" pitchFamily="34" charset="-122"/>
                <a:cs typeface="Calibri" pitchFamily="34" charset="-120"/>
              </a:rPr>
              <a:t>4  —  DISTRIBUTION &amp; ADOPTION STRATEGY</a:t>
            </a:r>
            <a:endParaRPr lang="en-US" sz="1200" dirty="0"/>
          </a:p>
        </p:txBody>
      </p:sp>
      <p:sp>
        <p:nvSpPr>
          <p:cNvPr id="3" name="Text 1"/>
          <p:cNvSpPr/>
          <p:nvPr/>
        </p:nvSpPr>
        <p:spPr>
          <a:xfrm>
            <a:off x="457200" y="548640"/>
            <a:ext cx="11247120" cy="548640"/>
          </a:xfrm>
          <a:prstGeom prst="rect">
            <a:avLst/>
          </a:prstGeom>
          <a:noFill/>
          <a:ln/>
        </p:spPr>
        <p:txBody>
          <a:bodyPr wrap="square" rtlCol="0" anchor="ctr"/>
          <a:lstStyle/>
          <a:p>
            <a:pPr marL="0" indent="0">
              <a:buNone/>
            </a:pPr>
            <a:r>
              <a:rPr lang="en-US" sz="2400" b="1" dirty="0">
                <a:solidFill>
                  <a:srgbClr val="2E0E5C"/>
                </a:solidFill>
                <a:latin typeface="Cambria" pitchFamily="34" charset="0"/>
                <a:ea typeface="Cambria" pitchFamily="34" charset="-122"/>
                <a:cs typeface="Cambria" pitchFamily="34" charset="-120"/>
              </a:rPr>
              <a:t>Accelerate trial, prove value, reward loyalty</a:t>
            </a:r>
            <a:endParaRPr lang="en-US" sz="2400" dirty="0"/>
          </a:p>
        </p:txBody>
      </p:sp>
      <p:sp>
        <p:nvSpPr>
          <p:cNvPr id="4" name="Text 2"/>
          <p:cNvSpPr/>
          <p:nvPr/>
        </p:nvSpPr>
        <p:spPr>
          <a:xfrm>
            <a:off x="457200" y="1115568"/>
            <a:ext cx="11247120" cy="320040"/>
          </a:xfrm>
          <a:prstGeom prst="rect">
            <a:avLst/>
          </a:prstGeom>
          <a:noFill/>
          <a:ln/>
        </p:spPr>
        <p:txBody>
          <a:bodyPr wrap="square" rtlCol="0" anchor="ctr"/>
          <a:lstStyle/>
          <a:p>
            <a:pPr marL="0" indent="0">
              <a:buNone/>
            </a:pPr>
            <a:r>
              <a:rPr lang="en-US" sz="1150" i="1" dirty="0">
                <a:solidFill>
                  <a:srgbClr val="6E6A7C"/>
                </a:solidFill>
                <a:latin typeface="Calibri" pitchFamily="34" charset="0"/>
                <a:ea typeface="Calibri" pitchFamily="34" charset="-122"/>
                <a:cs typeface="Calibri" pitchFamily="34" charset="-120"/>
              </a:rPr>
              <a:t>Customer value and business outcomes aren't consistently measured or communicated today — that's the problem these four steps solve.</a:t>
            </a:r>
            <a:endParaRPr lang="en-US" sz="1150" dirty="0"/>
          </a:p>
        </p:txBody>
      </p:sp>
      <p:sp>
        <p:nvSpPr>
          <p:cNvPr id="5" name="Shape 3"/>
          <p:cNvSpPr/>
          <p:nvPr/>
        </p:nvSpPr>
        <p:spPr>
          <a:xfrm>
            <a:off x="457200" y="1536192"/>
            <a:ext cx="2606040" cy="1874520"/>
          </a:xfrm>
          <a:prstGeom prst="roundRect">
            <a:avLst>
              <a:gd name="adj" fmla="val 3902"/>
            </a:avLst>
          </a:prstGeom>
          <a:solidFill>
            <a:srgbClr val="F7F6FA"/>
          </a:solidFill>
          <a:ln/>
          <a:effectLst>
            <a:outerShdw blurRad="63500" dist="25400" dir="5400000" algn="bl" rotWithShape="0">
              <a:srgbClr val="808080">
                <a:alpha val="20000"/>
              </a:srgbClr>
            </a:outerShdw>
          </a:effectLst>
        </p:spPr>
        <p:txBody>
          <a:bodyPr/>
          <a:lstStyle/>
          <a:p>
            <a:endParaRPr lang="en-US"/>
          </a:p>
        </p:txBody>
      </p:sp>
      <p:sp>
        <p:nvSpPr>
          <p:cNvPr id="6" name="Shape 4"/>
          <p:cNvSpPr/>
          <p:nvPr/>
        </p:nvSpPr>
        <p:spPr>
          <a:xfrm>
            <a:off x="1508760" y="1737360"/>
            <a:ext cx="502920" cy="502920"/>
          </a:xfrm>
          <a:prstGeom prst="ellipse">
            <a:avLst/>
          </a:prstGeom>
          <a:solidFill>
            <a:srgbClr val="4D148C"/>
          </a:solidFill>
          <a:ln/>
        </p:spPr>
        <p:txBody>
          <a:bodyPr/>
          <a:lstStyle/>
          <a:p>
            <a:endParaRPr lang="en-US"/>
          </a:p>
        </p:txBody>
      </p:sp>
      <p:sp>
        <p:nvSpPr>
          <p:cNvPr id="7" name="Text 5"/>
          <p:cNvSpPr/>
          <p:nvPr/>
        </p:nvSpPr>
        <p:spPr>
          <a:xfrm>
            <a:off x="1508760" y="173736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594360" y="2404872"/>
            <a:ext cx="2331720" cy="548640"/>
          </a:xfrm>
          <a:prstGeom prst="rect">
            <a:avLst/>
          </a:prstGeom>
          <a:noFill/>
          <a:ln/>
        </p:spPr>
        <p:txBody>
          <a:bodyPr wrap="square" rtlCol="0" anchor="ctr"/>
          <a:lstStyle/>
          <a:p>
            <a:pPr marL="0" indent="0" algn="ctr">
              <a:lnSpc>
                <a:spcPct val="105000"/>
              </a:lnSpc>
              <a:buNone/>
            </a:pPr>
            <a:r>
              <a:rPr lang="en-US" sz="1250" b="1" dirty="0">
                <a:solidFill>
                  <a:srgbClr val="2E0E5C"/>
                </a:solidFill>
                <a:latin typeface="Cambria" pitchFamily="34" charset="0"/>
                <a:ea typeface="Cambria" pitchFamily="34" charset="-122"/>
                <a:cs typeface="Cambria" pitchFamily="34" charset="-120"/>
              </a:rPr>
              <a:t>Lower the trial barrier</a:t>
            </a:r>
            <a:endParaRPr lang="en-US" sz="1250" dirty="0"/>
          </a:p>
        </p:txBody>
      </p:sp>
      <p:sp>
        <p:nvSpPr>
          <p:cNvPr id="9" name="Text 7"/>
          <p:cNvSpPr/>
          <p:nvPr/>
        </p:nvSpPr>
        <p:spPr>
          <a:xfrm>
            <a:off x="594360" y="2953512"/>
            <a:ext cx="2331720" cy="502920"/>
          </a:xfrm>
          <a:prstGeom prst="rect">
            <a:avLst/>
          </a:prstGeom>
          <a:noFill/>
          <a:ln/>
        </p:spPr>
        <p:txBody>
          <a:bodyPr wrap="square" rtlCol="0" anchor="ctr"/>
          <a:lstStyle/>
          <a:p>
            <a:pPr marL="0" indent="0" algn="ctr">
              <a:lnSpc>
                <a:spcPct val="115000"/>
              </a:lnSpc>
              <a:buNone/>
            </a:pPr>
            <a:r>
              <a:rPr lang="en-US" sz="950" dirty="0">
                <a:solidFill>
                  <a:srgbClr val="231F35"/>
                </a:solidFill>
                <a:latin typeface="Calibri" pitchFamily="34" charset="0"/>
                <a:ea typeface="Calibri" pitchFamily="34" charset="-122"/>
                <a:cs typeface="Calibri" pitchFamily="34" charset="-120"/>
              </a:rPr>
              <a:t>Single Journey as the default suggested option at booking for eligible shipments</a:t>
            </a:r>
            <a:endParaRPr lang="en-US" sz="950" dirty="0"/>
          </a:p>
        </p:txBody>
      </p:sp>
      <p:sp>
        <p:nvSpPr>
          <p:cNvPr id="10" name="Text 8"/>
          <p:cNvSpPr/>
          <p:nvPr/>
        </p:nvSpPr>
        <p:spPr>
          <a:xfrm>
            <a:off x="3044952" y="2290572"/>
            <a:ext cx="265176" cy="365760"/>
          </a:xfrm>
          <a:prstGeom prst="rect">
            <a:avLst/>
          </a:prstGeom>
          <a:noFill/>
          <a:ln/>
        </p:spPr>
        <p:txBody>
          <a:bodyPr wrap="square" rtlCol="0" anchor="ctr"/>
          <a:lstStyle/>
          <a:p>
            <a:pPr marL="0" indent="0" algn="ctr">
              <a:buNone/>
            </a:pPr>
            <a:r>
              <a:rPr lang="en-US" sz="1600" b="1" dirty="0">
                <a:solidFill>
                  <a:srgbClr val="FF66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291840" y="1536192"/>
            <a:ext cx="2606040" cy="1874520"/>
          </a:xfrm>
          <a:prstGeom prst="roundRect">
            <a:avLst>
              <a:gd name="adj" fmla="val 3902"/>
            </a:avLst>
          </a:prstGeom>
          <a:solidFill>
            <a:srgbClr val="F7F6FA"/>
          </a:solidFill>
          <a:ln/>
          <a:effectLst>
            <a:outerShdw blurRad="63500" dist="25400" dir="5400000" algn="bl" rotWithShape="0">
              <a:srgbClr val="808080">
                <a:alpha val="20000"/>
              </a:srgbClr>
            </a:outerShdw>
          </a:effectLst>
        </p:spPr>
        <p:txBody>
          <a:bodyPr/>
          <a:lstStyle/>
          <a:p>
            <a:endParaRPr lang="en-US"/>
          </a:p>
        </p:txBody>
      </p:sp>
      <p:sp>
        <p:nvSpPr>
          <p:cNvPr id="12" name="Shape 10"/>
          <p:cNvSpPr/>
          <p:nvPr/>
        </p:nvSpPr>
        <p:spPr>
          <a:xfrm>
            <a:off x="4343400" y="1737360"/>
            <a:ext cx="502920" cy="502920"/>
          </a:xfrm>
          <a:prstGeom prst="ellipse">
            <a:avLst/>
          </a:prstGeom>
          <a:solidFill>
            <a:srgbClr val="4D148C"/>
          </a:solidFill>
          <a:ln/>
        </p:spPr>
        <p:txBody>
          <a:bodyPr/>
          <a:lstStyle/>
          <a:p>
            <a:endParaRPr lang="en-US"/>
          </a:p>
        </p:txBody>
      </p:sp>
      <p:sp>
        <p:nvSpPr>
          <p:cNvPr id="13" name="Text 11"/>
          <p:cNvSpPr/>
          <p:nvPr/>
        </p:nvSpPr>
        <p:spPr>
          <a:xfrm>
            <a:off x="4343400" y="173736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p:nvPr/>
        </p:nvSpPr>
        <p:spPr>
          <a:xfrm>
            <a:off x="3429000" y="2404872"/>
            <a:ext cx="2331720" cy="548640"/>
          </a:xfrm>
          <a:prstGeom prst="rect">
            <a:avLst/>
          </a:prstGeom>
          <a:noFill/>
          <a:ln/>
        </p:spPr>
        <p:txBody>
          <a:bodyPr wrap="square" rtlCol="0" anchor="ctr"/>
          <a:lstStyle/>
          <a:p>
            <a:pPr marL="0" indent="0" algn="ctr">
              <a:lnSpc>
                <a:spcPct val="105000"/>
              </a:lnSpc>
              <a:buNone/>
            </a:pPr>
            <a:r>
              <a:rPr lang="en-US" sz="1250" b="1" dirty="0">
                <a:solidFill>
                  <a:srgbClr val="2E0E5C"/>
                </a:solidFill>
                <a:latin typeface="Cambria" pitchFamily="34" charset="0"/>
                <a:ea typeface="Cambria" pitchFamily="34" charset="-122"/>
                <a:cs typeface="Cambria" pitchFamily="34" charset="-120"/>
              </a:rPr>
              <a:t>Define value milestones</a:t>
            </a:r>
            <a:endParaRPr lang="en-US" sz="1250" dirty="0"/>
          </a:p>
        </p:txBody>
      </p:sp>
      <p:sp>
        <p:nvSpPr>
          <p:cNvPr id="15" name="Text 13"/>
          <p:cNvSpPr/>
          <p:nvPr/>
        </p:nvSpPr>
        <p:spPr>
          <a:xfrm>
            <a:off x="3429000" y="2953512"/>
            <a:ext cx="2331720" cy="502920"/>
          </a:xfrm>
          <a:prstGeom prst="rect">
            <a:avLst/>
          </a:prstGeom>
          <a:noFill/>
          <a:ln/>
        </p:spPr>
        <p:txBody>
          <a:bodyPr wrap="square" rtlCol="0" anchor="ctr"/>
          <a:lstStyle/>
          <a:p>
            <a:pPr marL="0" indent="0" algn="ctr">
              <a:lnSpc>
                <a:spcPct val="115000"/>
              </a:lnSpc>
              <a:buNone/>
            </a:pPr>
            <a:r>
              <a:rPr lang="en-US" sz="950" dirty="0">
                <a:solidFill>
                  <a:srgbClr val="231F35"/>
                </a:solidFill>
                <a:latin typeface="Calibri" pitchFamily="34" charset="0"/>
                <a:ea typeface="Calibri" pitchFamily="34" charset="-122"/>
                <a:cs typeface="Calibri" pitchFamily="34" charset="-120"/>
              </a:rPr>
              <a:t>First intervention or cost-avoidance event flagged within 24 hours</a:t>
            </a:r>
            <a:endParaRPr lang="en-US" sz="950" dirty="0"/>
          </a:p>
        </p:txBody>
      </p:sp>
      <p:sp>
        <p:nvSpPr>
          <p:cNvPr id="16" name="Text 14"/>
          <p:cNvSpPr/>
          <p:nvPr/>
        </p:nvSpPr>
        <p:spPr>
          <a:xfrm>
            <a:off x="5879592" y="2290572"/>
            <a:ext cx="265176" cy="365760"/>
          </a:xfrm>
          <a:prstGeom prst="rect">
            <a:avLst/>
          </a:prstGeom>
          <a:noFill/>
          <a:ln/>
        </p:spPr>
        <p:txBody>
          <a:bodyPr wrap="square" rtlCol="0" anchor="ctr"/>
          <a:lstStyle/>
          <a:p>
            <a:pPr marL="0" indent="0" algn="ctr">
              <a:buNone/>
            </a:pPr>
            <a:r>
              <a:rPr lang="en-US" sz="1600" b="1" dirty="0">
                <a:solidFill>
                  <a:srgbClr val="FF6600"/>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126480" y="1536192"/>
            <a:ext cx="2606040" cy="1874520"/>
          </a:xfrm>
          <a:prstGeom prst="roundRect">
            <a:avLst>
              <a:gd name="adj" fmla="val 3902"/>
            </a:avLst>
          </a:prstGeom>
          <a:solidFill>
            <a:srgbClr val="F7F6FA"/>
          </a:solidFill>
          <a:ln/>
          <a:effectLst>
            <a:outerShdw blurRad="63500" dist="25400" dir="5400000" algn="bl" rotWithShape="0">
              <a:srgbClr val="808080">
                <a:alpha val="20000"/>
              </a:srgbClr>
            </a:outerShdw>
          </a:effectLst>
        </p:spPr>
        <p:txBody>
          <a:bodyPr/>
          <a:lstStyle/>
          <a:p>
            <a:endParaRPr lang="en-US"/>
          </a:p>
        </p:txBody>
      </p:sp>
      <p:sp>
        <p:nvSpPr>
          <p:cNvPr id="18" name="Shape 16"/>
          <p:cNvSpPr/>
          <p:nvPr/>
        </p:nvSpPr>
        <p:spPr>
          <a:xfrm>
            <a:off x="7178040" y="1737360"/>
            <a:ext cx="502920" cy="502920"/>
          </a:xfrm>
          <a:prstGeom prst="ellipse">
            <a:avLst/>
          </a:prstGeom>
          <a:solidFill>
            <a:srgbClr val="4D148C"/>
          </a:solidFill>
          <a:ln/>
        </p:spPr>
        <p:txBody>
          <a:bodyPr/>
          <a:lstStyle/>
          <a:p>
            <a:endParaRPr lang="en-US"/>
          </a:p>
        </p:txBody>
      </p:sp>
      <p:sp>
        <p:nvSpPr>
          <p:cNvPr id="19" name="Text 17"/>
          <p:cNvSpPr/>
          <p:nvPr/>
        </p:nvSpPr>
        <p:spPr>
          <a:xfrm>
            <a:off x="7178040" y="173736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0" name="Text 18"/>
          <p:cNvSpPr/>
          <p:nvPr/>
        </p:nvSpPr>
        <p:spPr>
          <a:xfrm>
            <a:off x="6263640" y="2404872"/>
            <a:ext cx="2331720" cy="548640"/>
          </a:xfrm>
          <a:prstGeom prst="rect">
            <a:avLst/>
          </a:prstGeom>
          <a:noFill/>
          <a:ln/>
        </p:spPr>
        <p:txBody>
          <a:bodyPr wrap="square" rtlCol="0" anchor="ctr"/>
          <a:lstStyle/>
          <a:p>
            <a:pPr marL="0" indent="0" algn="ctr">
              <a:lnSpc>
                <a:spcPct val="105000"/>
              </a:lnSpc>
              <a:buNone/>
            </a:pPr>
            <a:r>
              <a:rPr lang="en-US" sz="1250" b="1" dirty="0">
                <a:solidFill>
                  <a:srgbClr val="2E0E5C"/>
                </a:solidFill>
                <a:latin typeface="Cambria" pitchFamily="34" charset="0"/>
                <a:ea typeface="Cambria" pitchFamily="34" charset="-122"/>
                <a:cs typeface="Cambria" pitchFamily="34" charset="-120"/>
              </a:rPr>
              <a:t>Build the renewal playbook</a:t>
            </a:r>
            <a:endParaRPr lang="en-US" sz="1250" dirty="0"/>
          </a:p>
        </p:txBody>
      </p:sp>
      <p:sp>
        <p:nvSpPr>
          <p:cNvPr id="21" name="Text 19"/>
          <p:cNvSpPr/>
          <p:nvPr/>
        </p:nvSpPr>
        <p:spPr>
          <a:xfrm>
            <a:off x="6263640" y="2953512"/>
            <a:ext cx="2331720" cy="502920"/>
          </a:xfrm>
          <a:prstGeom prst="rect">
            <a:avLst/>
          </a:prstGeom>
          <a:noFill/>
          <a:ln/>
        </p:spPr>
        <p:txBody>
          <a:bodyPr wrap="square" rtlCol="0" anchor="ctr"/>
          <a:lstStyle/>
          <a:p>
            <a:pPr marL="0" indent="0" algn="ctr">
              <a:lnSpc>
                <a:spcPct val="115000"/>
              </a:lnSpc>
              <a:buNone/>
            </a:pPr>
            <a:r>
              <a:rPr lang="en-US" sz="950" dirty="0">
                <a:solidFill>
                  <a:srgbClr val="231F35"/>
                </a:solidFill>
                <a:latin typeface="Calibri" pitchFamily="34" charset="0"/>
                <a:ea typeface="Calibri" pitchFamily="34" charset="-122"/>
                <a:cs typeface="Calibri" pitchFamily="34" charset="-120"/>
              </a:rPr>
              <a:t>One-page ROI summary auto-generated 60 days before renewal</a:t>
            </a:r>
            <a:endParaRPr lang="en-US" sz="950" dirty="0"/>
          </a:p>
        </p:txBody>
      </p:sp>
      <p:sp>
        <p:nvSpPr>
          <p:cNvPr id="22" name="Text 20"/>
          <p:cNvSpPr/>
          <p:nvPr/>
        </p:nvSpPr>
        <p:spPr>
          <a:xfrm>
            <a:off x="8714232" y="2290572"/>
            <a:ext cx="265176" cy="365760"/>
          </a:xfrm>
          <a:prstGeom prst="rect">
            <a:avLst/>
          </a:prstGeom>
          <a:noFill/>
          <a:ln/>
        </p:spPr>
        <p:txBody>
          <a:bodyPr wrap="square" rtlCol="0" anchor="ctr"/>
          <a:lstStyle/>
          <a:p>
            <a:pPr marL="0" indent="0" algn="ctr">
              <a:buNone/>
            </a:pPr>
            <a:r>
              <a:rPr lang="en-US" sz="1600" b="1" dirty="0">
                <a:solidFill>
                  <a:srgbClr val="FF6600"/>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8961120" y="1536192"/>
            <a:ext cx="2606040" cy="1874520"/>
          </a:xfrm>
          <a:prstGeom prst="roundRect">
            <a:avLst>
              <a:gd name="adj" fmla="val 3902"/>
            </a:avLst>
          </a:prstGeom>
          <a:solidFill>
            <a:srgbClr val="F7F6FA"/>
          </a:solidFill>
          <a:ln/>
          <a:effectLst>
            <a:outerShdw blurRad="63500" dist="25400" dir="5400000" algn="bl" rotWithShape="0">
              <a:srgbClr val="808080">
                <a:alpha val="20000"/>
              </a:srgbClr>
            </a:outerShdw>
          </a:effectLst>
        </p:spPr>
        <p:txBody>
          <a:bodyPr/>
          <a:lstStyle/>
          <a:p>
            <a:endParaRPr lang="en-US"/>
          </a:p>
        </p:txBody>
      </p:sp>
      <p:sp>
        <p:nvSpPr>
          <p:cNvPr id="24" name="Shape 22"/>
          <p:cNvSpPr/>
          <p:nvPr/>
        </p:nvSpPr>
        <p:spPr>
          <a:xfrm>
            <a:off x="10012680" y="1737360"/>
            <a:ext cx="502920" cy="502920"/>
          </a:xfrm>
          <a:prstGeom prst="ellipse">
            <a:avLst/>
          </a:prstGeom>
          <a:solidFill>
            <a:srgbClr val="4D148C"/>
          </a:solidFill>
          <a:ln/>
        </p:spPr>
        <p:txBody>
          <a:bodyPr/>
          <a:lstStyle/>
          <a:p>
            <a:endParaRPr lang="en-US"/>
          </a:p>
        </p:txBody>
      </p:sp>
      <p:sp>
        <p:nvSpPr>
          <p:cNvPr id="25" name="Text 23"/>
          <p:cNvSpPr/>
          <p:nvPr/>
        </p:nvSpPr>
        <p:spPr>
          <a:xfrm>
            <a:off x="10012680" y="173736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6" name="Text 24"/>
          <p:cNvSpPr/>
          <p:nvPr/>
        </p:nvSpPr>
        <p:spPr>
          <a:xfrm>
            <a:off x="9098280" y="2404872"/>
            <a:ext cx="2331720" cy="548640"/>
          </a:xfrm>
          <a:prstGeom prst="rect">
            <a:avLst/>
          </a:prstGeom>
          <a:noFill/>
          <a:ln/>
        </p:spPr>
        <p:txBody>
          <a:bodyPr wrap="square" rtlCol="0" anchor="ctr"/>
          <a:lstStyle/>
          <a:p>
            <a:pPr marL="0" indent="0" algn="ctr">
              <a:lnSpc>
                <a:spcPct val="105000"/>
              </a:lnSpc>
              <a:buNone/>
            </a:pPr>
            <a:r>
              <a:rPr lang="en-US" sz="1250" b="1" dirty="0">
                <a:solidFill>
                  <a:srgbClr val="2E0E5C"/>
                </a:solidFill>
                <a:latin typeface="Cambria" pitchFamily="34" charset="0"/>
                <a:ea typeface="Cambria" pitchFamily="34" charset="-122"/>
                <a:cs typeface="Cambria" pitchFamily="34" charset="-120"/>
              </a:rPr>
              <a:t>Embed in account conversations</a:t>
            </a:r>
            <a:endParaRPr lang="en-US" sz="1250" dirty="0"/>
          </a:p>
        </p:txBody>
      </p:sp>
      <p:sp>
        <p:nvSpPr>
          <p:cNvPr id="27" name="Text 25"/>
          <p:cNvSpPr/>
          <p:nvPr/>
        </p:nvSpPr>
        <p:spPr>
          <a:xfrm>
            <a:off x="9098280" y="2953512"/>
            <a:ext cx="2331720" cy="502920"/>
          </a:xfrm>
          <a:prstGeom prst="rect">
            <a:avLst/>
          </a:prstGeom>
          <a:noFill/>
          <a:ln/>
        </p:spPr>
        <p:txBody>
          <a:bodyPr wrap="square" rtlCol="0" anchor="ctr"/>
          <a:lstStyle/>
          <a:p>
            <a:pPr marL="0" indent="0" algn="ctr">
              <a:lnSpc>
                <a:spcPct val="115000"/>
              </a:lnSpc>
              <a:buNone/>
            </a:pPr>
            <a:r>
              <a:rPr lang="en-US" sz="950" dirty="0">
                <a:solidFill>
                  <a:srgbClr val="231F35"/>
                </a:solidFill>
                <a:latin typeface="Calibri" pitchFamily="34" charset="0"/>
                <a:ea typeface="Calibri" pitchFamily="34" charset="-122"/>
                <a:cs typeface="Calibri" pitchFamily="34" charset="-120"/>
              </a:rPr>
              <a:t>Fixed line item on quarterly business review agendas</a:t>
            </a:r>
            <a:endParaRPr lang="en-US" sz="950" dirty="0"/>
          </a:p>
        </p:txBody>
      </p:sp>
      <p:sp>
        <p:nvSpPr>
          <p:cNvPr id="28" name="Text 26"/>
          <p:cNvSpPr/>
          <p:nvPr/>
        </p:nvSpPr>
        <p:spPr>
          <a:xfrm>
            <a:off x="457200" y="3657600"/>
            <a:ext cx="11247120" cy="320040"/>
          </a:xfrm>
          <a:prstGeom prst="rect">
            <a:avLst/>
          </a:prstGeom>
          <a:noFill/>
          <a:ln/>
        </p:spPr>
        <p:txBody>
          <a:bodyPr wrap="square" rtlCol="0" anchor="ctr"/>
          <a:lstStyle/>
          <a:p>
            <a:pPr marL="0" indent="0">
              <a:buNone/>
            </a:pPr>
            <a:r>
              <a:rPr lang="en-US" sz="1250" b="1" dirty="0">
                <a:solidFill>
                  <a:srgbClr val="6E6A7C"/>
                </a:solidFill>
                <a:latin typeface="Calibri" pitchFamily="34" charset="0"/>
                <a:ea typeface="Calibri" pitchFamily="34" charset="-122"/>
                <a:cs typeface="Calibri" pitchFamily="34" charset="-120"/>
              </a:rPr>
              <a:t>Two proactive additions — named, not generic:</a:t>
            </a:r>
            <a:endParaRPr lang="en-US" sz="1250" dirty="0"/>
          </a:p>
        </p:txBody>
      </p:sp>
      <p:sp>
        <p:nvSpPr>
          <p:cNvPr id="29" name="Shape 27"/>
          <p:cNvSpPr/>
          <p:nvPr/>
        </p:nvSpPr>
        <p:spPr>
          <a:xfrm>
            <a:off x="457200" y="4041648"/>
            <a:ext cx="5440680" cy="1965960"/>
          </a:xfrm>
          <a:prstGeom prst="roundRect">
            <a:avLst>
              <a:gd name="adj" fmla="val 3721"/>
            </a:avLst>
          </a:prstGeom>
          <a:solidFill>
            <a:srgbClr val="2E0E5C"/>
          </a:solidFill>
          <a:ln/>
        </p:spPr>
        <p:txBody>
          <a:bodyPr/>
          <a:lstStyle/>
          <a:p>
            <a:endParaRPr lang="en-US"/>
          </a:p>
        </p:txBody>
      </p:sp>
      <p:sp>
        <p:nvSpPr>
          <p:cNvPr id="30" name="Shape 28"/>
          <p:cNvSpPr/>
          <p:nvPr/>
        </p:nvSpPr>
        <p:spPr>
          <a:xfrm>
            <a:off x="731520" y="4297680"/>
            <a:ext cx="548640" cy="548640"/>
          </a:xfrm>
          <a:prstGeom prst="ellipse">
            <a:avLst/>
          </a:prstGeom>
          <a:solidFill>
            <a:srgbClr val="FF6600"/>
          </a:solidFill>
          <a:ln/>
        </p:spPr>
        <p:txBody>
          <a:bodyPr/>
          <a:lstStyle/>
          <a:p>
            <a:endParaRPr lang="en-US"/>
          </a:p>
        </p:txBody>
      </p:sp>
      <p:sp>
        <p:nvSpPr>
          <p:cNvPr id="31" name="Text 29"/>
          <p:cNvSpPr/>
          <p:nvPr/>
        </p:nvSpPr>
        <p:spPr>
          <a:xfrm>
            <a:off x="731520" y="429768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a:t>
            </a:r>
            <a:endParaRPr lang="en-US" sz="2000" dirty="0"/>
          </a:p>
        </p:txBody>
      </p:sp>
      <p:sp>
        <p:nvSpPr>
          <p:cNvPr id="32" name="Text 30"/>
          <p:cNvSpPr/>
          <p:nvPr/>
        </p:nvSpPr>
        <p:spPr>
          <a:xfrm>
            <a:off x="1463040" y="4261104"/>
            <a:ext cx="4160520" cy="640080"/>
          </a:xfrm>
          <a:prstGeom prst="rect">
            <a:avLst/>
          </a:prstGeom>
          <a:noFill/>
          <a:ln/>
        </p:spPr>
        <p:txBody>
          <a:bodyPr wrap="square" rtlCol="0" anchor="t"/>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Priority Alert migration path</a:t>
            </a:r>
            <a:endParaRPr lang="en-US" sz="1350" dirty="0"/>
          </a:p>
        </p:txBody>
      </p:sp>
      <p:sp>
        <p:nvSpPr>
          <p:cNvPr id="33" name="Text 31"/>
          <p:cNvSpPr/>
          <p:nvPr/>
        </p:nvSpPr>
        <p:spPr>
          <a:xfrm>
            <a:off x="731520" y="5001768"/>
            <a:ext cx="4892040" cy="1051560"/>
          </a:xfrm>
          <a:prstGeom prst="rect">
            <a:avLst/>
          </a:prstGeom>
          <a:noFill/>
          <a:ln/>
        </p:spPr>
        <p:txBody>
          <a:bodyPr wrap="square" rtlCol="0" anchor="ctr"/>
          <a:lstStyle/>
          <a:p>
            <a:pPr marL="0" indent="0">
              <a:lnSpc>
                <a:spcPct val="120000"/>
              </a:lnSpc>
              <a:buNone/>
            </a:pPr>
            <a:r>
              <a:rPr lang="en-US" sz="1100" dirty="0">
                <a:solidFill>
                  <a:srgbClr val="E9E1F5"/>
                </a:solidFill>
                <a:latin typeface="Calibri" pitchFamily="34" charset="0"/>
                <a:ea typeface="Calibri" pitchFamily="34" charset="-122"/>
                <a:cs typeface="Calibri" pitchFamily="34" charset="-120"/>
              </a:rPr>
              <a:t>Consolidating Priority Alert means real customers on a real product need an explicit migration path — not a flip of a switch. This is an adoption problem, not just a pricing one.</a:t>
            </a:r>
            <a:endParaRPr lang="en-US" sz="1100" dirty="0"/>
          </a:p>
        </p:txBody>
      </p:sp>
      <p:sp>
        <p:nvSpPr>
          <p:cNvPr id="34" name="Shape 32"/>
          <p:cNvSpPr/>
          <p:nvPr/>
        </p:nvSpPr>
        <p:spPr>
          <a:xfrm>
            <a:off x="6263640" y="4041648"/>
            <a:ext cx="5440680" cy="1965960"/>
          </a:xfrm>
          <a:prstGeom prst="roundRect">
            <a:avLst>
              <a:gd name="adj" fmla="val 3721"/>
            </a:avLst>
          </a:prstGeom>
          <a:solidFill>
            <a:srgbClr val="2E0E5C"/>
          </a:solidFill>
          <a:ln/>
        </p:spPr>
        <p:txBody>
          <a:bodyPr/>
          <a:lstStyle/>
          <a:p>
            <a:endParaRPr lang="en-US"/>
          </a:p>
        </p:txBody>
      </p:sp>
      <p:sp>
        <p:nvSpPr>
          <p:cNvPr id="35" name="Shape 33"/>
          <p:cNvSpPr/>
          <p:nvPr/>
        </p:nvSpPr>
        <p:spPr>
          <a:xfrm>
            <a:off x="6537960" y="4297680"/>
            <a:ext cx="548640" cy="548640"/>
          </a:xfrm>
          <a:prstGeom prst="ellipse">
            <a:avLst/>
          </a:prstGeom>
          <a:solidFill>
            <a:srgbClr val="FF6600"/>
          </a:solidFill>
          <a:ln/>
        </p:spPr>
        <p:txBody>
          <a:bodyPr/>
          <a:lstStyle/>
          <a:p>
            <a:endParaRPr lang="en-US"/>
          </a:p>
        </p:txBody>
      </p:sp>
      <p:sp>
        <p:nvSpPr>
          <p:cNvPr id="36" name="Text 34"/>
          <p:cNvSpPr/>
          <p:nvPr/>
        </p:nvSpPr>
        <p:spPr>
          <a:xfrm>
            <a:off x="6537960" y="429768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a:t>
            </a:r>
            <a:endParaRPr lang="en-US" sz="2000" dirty="0"/>
          </a:p>
        </p:txBody>
      </p:sp>
      <p:sp>
        <p:nvSpPr>
          <p:cNvPr id="37" name="Text 35"/>
          <p:cNvSpPr/>
          <p:nvPr/>
        </p:nvSpPr>
        <p:spPr>
          <a:xfrm>
            <a:off x="7269480" y="4261104"/>
            <a:ext cx="4160520" cy="640080"/>
          </a:xfrm>
          <a:prstGeom prst="rect">
            <a:avLst/>
          </a:prstGeom>
          <a:noFill/>
          <a:ln/>
        </p:spPr>
        <p:txBody>
          <a:bodyPr wrap="square" rtlCol="0" anchor="t"/>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Pre-build RFID's funnel now</a:t>
            </a:r>
            <a:endParaRPr lang="en-US" sz="1350" dirty="0"/>
          </a:p>
        </p:txBody>
      </p:sp>
      <p:sp>
        <p:nvSpPr>
          <p:cNvPr id="38" name="Text 36"/>
          <p:cNvSpPr/>
          <p:nvPr/>
        </p:nvSpPr>
        <p:spPr>
          <a:xfrm>
            <a:off x="6537960" y="5001768"/>
            <a:ext cx="4892040" cy="1051560"/>
          </a:xfrm>
          <a:prstGeom prst="rect">
            <a:avLst/>
          </a:prstGeom>
          <a:noFill/>
          <a:ln/>
        </p:spPr>
        <p:txBody>
          <a:bodyPr wrap="square" rtlCol="0" anchor="ctr"/>
          <a:lstStyle/>
          <a:p>
            <a:pPr marL="0" indent="0">
              <a:lnSpc>
                <a:spcPct val="120000"/>
              </a:lnSpc>
              <a:buNone/>
            </a:pPr>
            <a:r>
              <a:rPr lang="en-US" sz="1100" dirty="0">
                <a:solidFill>
                  <a:srgbClr val="E9E1F5"/>
                </a:solidFill>
                <a:latin typeface="Calibri" pitchFamily="34" charset="0"/>
                <a:ea typeface="Calibri" pitchFamily="34" charset="-122"/>
                <a:cs typeface="Calibri" pitchFamily="34" charset="-120"/>
              </a:rPr>
              <a:t>RFID is heading toward a customer-facing product. Build the same trial-to-subscription motion for it today, so it launches with commercial discipline instead of needing to be fixed later.</a:t>
            </a:r>
            <a:endParaRPr lang="en-US" sz="1100" dirty="0"/>
          </a:p>
        </p:txBody>
      </p:sp>
      <p:sp>
        <p:nvSpPr>
          <p:cNvPr id="39" name="Text 37"/>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A7C"/>
                </a:solidFill>
                <a:latin typeface="Calibri" pitchFamily="34" charset="0"/>
                <a:ea typeface="Calibri" pitchFamily="34" charset="-122"/>
                <a:cs typeface="Calibri" pitchFamily="34" charset="-120"/>
              </a:rPr>
              <a:t>Distribution &amp; Adoption Strategy</a:t>
            </a:r>
            <a:endParaRPr lang="en-US" sz="900" dirty="0"/>
          </a:p>
        </p:txBody>
      </p:sp>
      <p:sp>
        <p:nvSpPr>
          <p:cNvPr id="40" name="Text 38"/>
          <p:cNvSpPr/>
          <p:nvPr/>
        </p:nvSpPr>
        <p:spPr>
          <a:xfrm>
            <a:off x="6248095" y="6519672"/>
            <a:ext cx="5486400" cy="274320"/>
          </a:xfrm>
          <a:prstGeom prst="rect">
            <a:avLst/>
          </a:prstGeom>
          <a:noFill/>
          <a:ln/>
        </p:spPr>
        <p:txBody>
          <a:bodyPr wrap="square" rtlCol="0" anchor="ctr"/>
          <a:lstStyle/>
          <a:p>
            <a:pPr marL="0" indent="0" algn="r">
              <a:buNone/>
            </a:pPr>
            <a:r>
              <a:rPr lang="en-US" sz="900" dirty="0">
                <a:solidFill>
                  <a:srgbClr val="6E6A7C"/>
                </a:solidFill>
                <a:latin typeface="Calibri" pitchFamily="34" charset="0"/>
                <a:ea typeface="Calibri" pitchFamily="34" charset="-122"/>
                <a:cs typeface="Calibri" pitchFamily="34" charset="-120"/>
              </a:rPr>
              <a:t>Chris Cannon  |  FedEx Business Strategy Principal Interview</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E0E5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marL="0" indent="0">
              <a:buNone/>
            </a:pPr>
            <a:r>
              <a:rPr lang="en-US" sz="1200" b="1" kern="0" spc="100" dirty="0">
                <a:solidFill>
                  <a:srgbClr val="FF6600"/>
                </a:solidFill>
                <a:latin typeface="Calibri" pitchFamily="34" charset="0"/>
                <a:ea typeface="Calibri" pitchFamily="34" charset="-122"/>
                <a:cs typeface="Calibri" pitchFamily="34" charset="-120"/>
              </a:rPr>
              <a:t>5  —  SUCCESS METRICS</a:t>
            </a:r>
            <a:endParaRPr lang="en-US" sz="1200" dirty="0"/>
          </a:p>
        </p:txBody>
      </p:sp>
      <p:sp>
        <p:nvSpPr>
          <p:cNvPr id="3" name="Text 1"/>
          <p:cNvSpPr/>
          <p:nvPr/>
        </p:nvSpPr>
        <p:spPr>
          <a:xfrm>
            <a:off x="457200" y="548640"/>
            <a:ext cx="1124712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Four metrics, each tied to a specific move in this strategy</a:t>
            </a:r>
            <a:endParaRPr lang="en-US" sz="2400" dirty="0"/>
          </a:p>
        </p:txBody>
      </p:sp>
      <p:sp>
        <p:nvSpPr>
          <p:cNvPr id="4" name="Shape 2"/>
          <p:cNvSpPr/>
          <p:nvPr/>
        </p:nvSpPr>
        <p:spPr>
          <a:xfrm>
            <a:off x="457200" y="1508760"/>
            <a:ext cx="5394960" cy="1600200"/>
          </a:xfrm>
          <a:prstGeom prst="roundRect">
            <a:avLst>
              <a:gd name="adj" fmla="val 4571"/>
            </a:avLst>
          </a:prstGeom>
          <a:solidFill>
            <a:srgbClr val="4D148C">
              <a:alpha val="85000"/>
            </a:srgbClr>
          </a:solidFill>
          <a:ln/>
        </p:spPr>
        <p:txBody>
          <a:bodyPr/>
          <a:lstStyle/>
          <a:p>
            <a:endParaRPr lang="en-US"/>
          </a:p>
        </p:txBody>
      </p:sp>
      <p:sp>
        <p:nvSpPr>
          <p:cNvPr id="5" name="Shape 3"/>
          <p:cNvSpPr/>
          <p:nvPr/>
        </p:nvSpPr>
        <p:spPr>
          <a:xfrm>
            <a:off x="457200" y="1508760"/>
            <a:ext cx="128016" cy="1600200"/>
          </a:xfrm>
          <a:prstGeom prst="roundRect">
            <a:avLst/>
          </a:prstGeom>
          <a:solidFill>
            <a:srgbClr val="6A3AA8"/>
          </a:solidFill>
          <a:ln/>
        </p:spPr>
        <p:txBody>
          <a:bodyPr/>
          <a:lstStyle/>
          <a:p>
            <a:endParaRPr lang="en-US"/>
          </a:p>
        </p:txBody>
      </p:sp>
      <p:sp>
        <p:nvSpPr>
          <p:cNvPr id="6" name="Text 4"/>
          <p:cNvSpPr/>
          <p:nvPr/>
        </p:nvSpPr>
        <p:spPr>
          <a:xfrm>
            <a:off x="822960" y="1709928"/>
            <a:ext cx="4754880" cy="411480"/>
          </a:xfrm>
          <a:prstGeom prst="rect">
            <a:avLst/>
          </a:prstGeom>
          <a:noFill/>
          <a:ln/>
        </p:spPr>
        <p:txBody>
          <a:bodyPr wrap="square" rtlCol="0" anchor="ctr"/>
          <a:lstStyle/>
          <a:p>
            <a:pPr marL="0" indent="0">
              <a:buNone/>
            </a:pPr>
            <a:r>
              <a:rPr lang="en-US" sz="1550" b="1" kern="0" spc="50" dirty="0">
                <a:solidFill>
                  <a:srgbClr val="FF6600"/>
                </a:solidFill>
                <a:latin typeface="Cambria" pitchFamily="34" charset="0"/>
                <a:ea typeface="Cambria" pitchFamily="34" charset="-122"/>
                <a:cs typeface="Cambria" pitchFamily="34" charset="-120"/>
              </a:rPr>
              <a:t>ADOPTION RATE</a:t>
            </a:r>
            <a:endParaRPr lang="en-US" sz="1550" dirty="0"/>
          </a:p>
        </p:txBody>
      </p:sp>
      <p:sp>
        <p:nvSpPr>
          <p:cNvPr id="7" name="Text 5"/>
          <p:cNvSpPr/>
          <p:nvPr/>
        </p:nvSpPr>
        <p:spPr>
          <a:xfrm>
            <a:off x="822960" y="2221992"/>
            <a:ext cx="4754880" cy="777240"/>
          </a:xfrm>
          <a:prstGeom prst="rect">
            <a:avLst/>
          </a:prstGeom>
          <a:noFill/>
          <a:ln/>
        </p:spPr>
        <p:txBody>
          <a:bodyPr wrap="square" rtlCol="0" anchor="ctr"/>
          <a:lstStyle/>
          <a:p>
            <a:pPr marL="0" indent="0">
              <a:lnSpc>
                <a:spcPct val="120000"/>
              </a:lnSpc>
              <a:buNone/>
            </a:pPr>
            <a:r>
              <a:rPr lang="en-US" sz="1250" dirty="0">
                <a:solidFill>
                  <a:srgbClr val="E9E1F5"/>
                </a:solidFill>
                <a:latin typeface="Calibri" pitchFamily="34" charset="0"/>
                <a:ea typeface="Calibri" pitchFamily="34" charset="-122"/>
                <a:cs typeface="Calibri" pitchFamily="34" charset="-120"/>
              </a:rPr>
              <a:t>% of eligible shipment volume using M&amp;I or Sensor products</a:t>
            </a:r>
            <a:endParaRPr lang="en-US" sz="1250" dirty="0"/>
          </a:p>
        </p:txBody>
      </p:sp>
      <p:sp>
        <p:nvSpPr>
          <p:cNvPr id="8" name="Shape 6"/>
          <p:cNvSpPr/>
          <p:nvPr/>
        </p:nvSpPr>
        <p:spPr>
          <a:xfrm>
            <a:off x="6309360" y="1508760"/>
            <a:ext cx="5394960" cy="1600200"/>
          </a:xfrm>
          <a:prstGeom prst="roundRect">
            <a:avLst>
              <a:gd name="adj" fmla="val 4571"/>
            </a:avLst>
          </a:prstGeom>
          <a:solidFill>
            <a:srgbClr val="4D148C">
              <a:alpha val="85000"/>
            </a:srgbClr>
          </a:solidFill>
          <a:ln/>
        </p:spPr>
        <p:txBody>
          <a:bodyPr/>
          <a:lstStyle/>
          <a:p>
            <a:endParaRPr lang="en-US"/>
          </a:p>
        </p:txBody>
      </p:sp>
      <p:sp>
        <p:nvSpPr>
          <p:cNvPr id="9" name="Shape 7"/>
          <p:cNvSpPr/>
          <p:nvPr/>
        </p:nvSpPr>
        <p:spPr>
          <a:xfrm>
            <a:off x="6309360" y="1508760"/>
            <a:ext cx="128016" cy="1600200"/>
          </a:xfrm>
          <a:prstGeom prst="roundRect">
            <a:avLst/>
          </a:prstGeom>
          <a:solidFill>
            <a:srgbClr val="6A3AA8"/>
          </a:solidFill>
          <a:ln/>
        </p:spPr>
        <p:txBody>
          <a:bodyPr/>
          <a:lstStyle/>
          <a:p>
            <a:endParaRPr lang="en-US"/>
          </a:p>
        </p:txBody>
      </p:sp>
      <p:sp>
        <p:nvSpPr>
          <p:cNvPr id="10" name="Text 8"/>
          <p:cNvSpPr/>
          <p:nvPr/>
        </p:nvSpPr>
        <p:spPr>
          <a:xfrm>
            <a:off x="6675120" y="1709928"/>
            <a:ext cx="4754880" cy="411480"/>
          </a:xfrm>
          <a:prstGeom prst="rect">
            <a:avLst/>
          </a:prstGeom>
          <a:noFill/>
          <a:ln/>
        </p:spPr>
        <p:txBody>
          <a:bodyPr wrap="square" rtlCol="0" anchor="ctr"/>
          <a:lstStyle/>
          <a:p>
            <a:pPr marL="0" indent="0">
              <a:buNone/>
            </a:pPr>
            <a:r>
              <a:rPr lang="en-US" sz="1550" b="1" kern="0" spc="50" dirty="0">
                <a:solidFill>
                  <a:srgbClr val="FF6600"/>
                </a:solidFill>
                <a:latin typeface="Cambria" pitchFamily="34" charset="0"/>
                <a:ea typeface="Cambria" pitchFamily="34" charset="-122"/>
                <a:cs typeface="Cambria" pitchFamily="34" charset="-120"/>
              </a:rPr>
              <a:t>SUBSCRIPTION CONVERSION</a:t>
            </a:r>
            <a:endParaRPr lang="en-US" sz="1550" dirty="0"/>
          </a:p>
        </p:txBody>
      </p:sp>
      <p:sp>
        <p:nvSpPr>
          <p:cNvPr id="11" name="Text 9"/>
          <p:cNvSpPr/>
          <p:nvPr/>
        </p:nvSpPr>
        <p:spPr>
          <a:xfrm>
            <a:off x="6675120" y="2221992"/>
            <a:ext cx="4754880" cy="777240"/>
          </a:xfrm>
          <a:prstGeom prst="rect">
            <a:avLst/>
          </a:prstGeom>
          <a:noFill/>
          <a:ln/>
        </p:spPr>
        <p:txBody>
          <a:bodyPr wrap="square" rtlCol="0" anchor="ctr"/>
          <a:lstStyle/>
          <a:p>
            <a:pPr marL="0" indent="0">
              <a:lnSpc>
                <a:spcPct val="120000"/>
              </a:lnSpc>
              <a:buNone/>
            </a:pPr>
            <a:r>
              <a:rPr lang="en-US" sz="1250" dirty="0">
                <a:solidFill>
                  <a:srgbClr val="E9E1F5"/>
                </a:solidFill>
                <a:latin typeface="Calibri" pitchFamily="34" charset="0"/>
                <a:ea typeface="Calibri" pitchFamily="34" charset="-122"/>
                <a:cs typeface="Calibri" pitchFamily="34" charset="-120"/>
              </a:rPr>
              <a:t>% of Single Journey users converting to a subscription</a:t>
            </a:r>
            <a:endParaRPr lang="en-US" sz="1250" dirty="0"/>
          </a:p>
        </p:txBody>
      </p:sp>
      <p:sp>
        <p:nvSpPr>
          <p:cNvPr id="12" name="Shape 10"/>
          <p:cNvSpPr/>
          <p:nvPr/>
        </p:nvSpPr>
        <p:spPr>
          <a:xfrm>
            <a:off x="457200" y="3383280"/>
            <a:ext cx="5394960" cy="1600200"/>
          </a:xfrm>
          <a:prstGeom prst="roundRect">
            <a:avLst>
              <a:gd name="adj" fmla="val 4571"/>
            </a:avLst>
          </a:prstGeom>
          <a:solidFill>
            <a:srgbClr val="4D148C">
              <a:alpha val="85000"/>
            </a:srgbClr>
          </a:solidFill>
          <a:ln/>
        </p:spPr>
        <p:txBody>
          <a:bodyPr/>
          <a:lstStyle/>
          <a:p>
            <a:endParaRPr lang="en-US"/>
          </a:p>
        </p:txBody>
      </p:sp>
      <p:sp>
        <p:nvSpPr>
          <p:cNvPr id="13" name="Shape 11"/>
          <p:cNvSpPr/>
          <p:nvPr/>
        </p:nvSpPr>
        <p:spPr>
          <a:xfrm>
            <a:off x="457200" y="3383280"/>
            <a:ext cx="128016" cy="1600200"/>
          </a:xfrm>
          <a:prstGeom prst="roundRect">
            <a:avLst/>
          </a:prstGeom>
          <a:solidFill>
            <a:srgbClr val="FF6600"/>
          </a:solidFill>
          <a:ln/>
        </p:spPr>
        <p:txBody>
          <a:bodyPr/>
          <a:lstStyle/>
          <a:p>
            <a:endParaRPr lang="en-US"/>
          </a:p>
        </p:txBody>
      </p:sp>
      <p:sp>
        <p:nvSpPr>
          <p:cNvPr id="14" name="Text 12"/>
          <p:cNvSpPr/>
          <p:nvPr/>
        </p:nvSpPr>
        <p:spPr>
          <a:xfrm>
            <a:off x="822960" y="3584448"/>
            <a:ext cx="4754880" cy="411480"/>
          </a:xfrm>
          <a:prstGeom prst="rect">
            <a:avLst/>
          </a:prstGeom>
          <a:noFill/>
          <a:ln/>
        </p:spPr>
        <p:txBody>
          <a:bodyPr wrap="square" rtlCol="0" anchor="ctr"/>
          <a:lstStyle/>
          <a:p>
            <a:pPr marL="0" indent="0">
              <a:buNone/>
            </a:pPr>
            <a:r>
              <a:rPr lang="en-US" sz="1550" b="1" kern="0" spc="50" dirty="0">
                <a:solidFill>
                  <a:srgbClr val="FF6600"/>
                </a:solidFill>
                <a:latin typeface="Cambria" pitchFamily="34" charset="0"/>
                <a:ea typeface="Cambria" pitchFamily="34" charset="-122"/>
                <a:cs typeface="Cambria" pitchFamily="34" charset="-120"/>
              </a:rPr>
              <a:t>LEGACY MIGRATION RATE</a:t>
            </a:r>
            <a:endParaRPr lang="en-US" sz="1550" dirty="0"/>
          </a:p>
        </p:txBody>
      </p:sp>
      <p:sp>
        <p:nvSpPr>
          <p:cNvPr id="15" name="Text 13"/>
          <p:cNvSpPr/>
          <p:nvPr/>
        </p:nvSpPr>
        <p:spPr>
          <a:xfrm>
            <a:off x="822960" y="4096512"/>
            <a:ext cx="4754880" cy="777240"/>
          </a:xfrm>
          <a:prstGeom prst="rect">
            <a:avLst/>
          </a:prstGeom>
          <a:noFill/>
          <a:ln/>
        </p:spPr>
        <p:txBody>
          <a:bodyPr wrap="square" rtlCol="0" anchor="ctr"/>
          <a:lstStyle/>
          <a:p>
            <a:pPr marL="0" indent="0">
              <a:lnSpc>
                <a:spcPct val="120000"/>
              </a:lnSpc>
              <a:buNone/>
            </a:pPr>
            <a:r>
              <a:rPr lang="en-US" sz="1250" dirty="0">
                <a:solidFill>
                  <a:srgbClr val="E9E1F5"/>
                </a:solidFill>
                <a:latin typeface="Calibri" pitchFamily="34" charset="0"/>
                <a:ea typeface="Calibri" pitchFamily="34" charset="-122"/>
                <a:cs typeface="Calibri" pitchFamily="34" charset="-120"/>
              </a:rPr>
              <a:t>% of Priority Alert accounts transitioned to the unified platform tier</a:t>
            </a:r>
            <a:endParaRPr lang="en-US" sz="1250" dirty="0"/>
          </a:p>
        </p:txBody>
      </p:sp>
      <p:sp>
        <p:nvSpPr>
          <p:cNvPr id="16" name="Text 14"/>
          <p:cNvSpPr/>
          <p:nvPr/>
        </p:nvSpPr>
        <p:spPr>
          <a:xfrm>
            <a:off x="5029200" y="3584448"/>
            <a:ext cx="548640" cy="274320"/>
          </a:xfrm>
          <a:prstGeom prst="rect">
            <a:avLst/>
          </a:prstGeom>
          <a:noFill/>
          <a:ln/>
        </p:spPr>
        <p:txBody>
          <a:bodyPr wrap="square" rtlCol="0" anchor="ctr"/>
          <a:lstStyle/>
          <a:p>
            <a:pPr marL="0" indent="0" algn="r">
              <a:buNone/>
            </a:pPr>
            <a:r>
              <a:rPr lang="en-US" sz="900" b="1" dirty="0">
                <a:solidFill>
                  <a:srgbClr val="FF6600"/>
                </a:solidFill>
                <a:latin typeface="Calibri" pitchFamily="34" charset="0"/>
                <a:ea typeface="Calibri" pitchFamily="34" charset="-122"/>
                <a:cs typeface="Calibri" pitchFamily="34" charset="-120"/>
              </a:rPr>
              <a:t>NEW</a:t>
            </a:r>
            <a:endParaRPr lang="en-US" sz="900" dirty="0"/>
          </a:p>
        </p:txBody>
      </p:sp>
      <p:sp>
        <p:nvSpPr>
          <p:cNvPr id="17" name="Shape 15"/>
          <p:cNvSpPr/>
          <p:nvPr/>
        </p:nvSpPr>
        <p:spPr>
          <a:xfrm>
            <a:off x="6309360" y="3383280"/>
            <a:ext cx="5394960" cy="1600200"/>
          </a:xfrm>
          <a:prstGeom prst="roundRect">
            <a:avLst>
              <a:gd name="adj" fmla="val 4571"/>
            </a:avLst>
          </a:prstGeom>
          <a:solidFill>
            <a:srgbClr val="4D148C">
              <a:alpha val="85000"/>
            </a:srgbClr>
          </a:solidFill>
          <a:ln/>
        </p:spPr>
        <p:txBody>
          <a:bodyPr/>
          <a:lstStyle/>
          <a:p>
            <a:endParaRPr lang="en-US"/>
          </a:p>
        </p:txBody>
      </p:sp>
      <p:sp>
        <p:nvSpPr>
          <p:cNvPr id="18" name="Shape 16"/>
          <p:cNvSpPr/>
          <p:nvPr/>
        </p:nvSpPr>
        <p:spPr>
          <a:xfrm>
            <a:off x="6309360" y="3383280"/>
            <a:ext cx="128016" cy="1600200"/>
          </a:xfrm>
          <a:prstGeom prst="roundRect">
            <a:avLst/>
          </a:prstGeom>
          <a:solidFill>
            <a:srgbClr val="6A3AA8"/>
          </a:solidFill>
          <a:ln/>
        </p:spPr>
        <p:txBody>
          <a:bodyPr/>
          <a:lstStyle/>
          <a:p>
            <a:endParaRPr lang="en-US"/>
          </a:p>
        </p:txBody>
      </p:sp>
      <p:sp>
        <p:nvSpPr>
          <p:cNvPr id="19" name="Text 17"/>
          <p:cNvSpPr/>
          <p:nvPr/>
        </p:nvSpPr>
        <p:spPr>
          <a:xfrm>
            <a:off x="6675120" y="3584448"/>
            <a:ext cx="4754880" cy="411480"/>
          </a:xfrm>
          <a:prstGeom prst="rect">
            <a:avLst/>
          </a:prstGeom>
          <a:noFill/>
          <a:ln/>
        </p:spPr>
        <p:txBody>
          <a:bodyPr wrap="square" rtlCol="0" anchor="ctr"/>
          <a:lstStyle/>
          <a:p>
            <a:pPr marL="0" indent="0">
              <a:buNone/>
            </a:pPr>
            <a:r>
              <a:rPr lang="en-US" sz="1550" b="1" kern="0" spc="50" dirty="0">
                <a:solidFill>
                  <a:srgbClr val="FF6600"/>
                </a:solidFill>
                <a:latin typeface="Cambria" pitchFamily="34" charset="0"/>
                <a:ea typeface="Cambria" pitchFamily="34" charset="-122"/>
                <a:cs typeface="Cambria" pitchFamily="34" charset="-120"/>
              </a:rPr>
              <a:t>NET REVENUE RETENTION</a:t>
            </a:r>
            <a:endParaRPr lang="en-US" sz="1550" dirty="0"/>
          </a:p>
        </p:txBody>
      </p:sp>
      <p:sp>
        <p:nvSpPr>
          <p:cNvPr id="20" name="Text 18"/>
          <p:cNvSpPr/>
          <p:nvPr/>
        </p:nvSpPr>
        <p:spPr>
          <a:xfrm>
            <a:off x="6675120" y="4096512"/>
            <a:ext cx="4754880" cy="777240"/>
          </a:xfrm>
          <a:prstGeom prst="rect">
            <a:avLst/>
          </a:prstGeom>
          <a:noFill/>
          <a:ln/>
        </p:spPr>
        <p:txBody>
          <a:bodyPr wrap="square" rtlCol="0" anchor="ctr"/>
          <a:lstStyle/>
          <a:p>
            <a:pPr marL="0" indent="0">
              <a:lnSpc>
                <a:spcPct val="120000"/>
              </a:lnSpc>
              <a:buNone/>
            </a:pPr>
            <a:r>
              <a:rPr lang="en-US" sz="1250" dirty="0">
                <a:solidFill>
                  <a:srgbClr val="E9E1F5"/>
                </a:solidFill>
                <a:latin typeface="Calibri" pitchFamily="34" charset="0"/>
                <a:ea typeface="Calibri" pitchFamily="34" charset="-122"/>
                <a:cs typeface="Calibri" pitchFamily="34" charset="-120"/>
              </a:rPr>
              <a:t>Revenue retained plus expansion at renewal — the outcome metric</a:t>
            </a:r>
            <a:endParaRPr lang="en-US" sz="1250" dirty="0"/>
          </a:p>
        </p:txBody>
      </p:sp>
      <p:sp>
        <p:nvSpPr>
          <p:cNvPr id="21" name="Text 19"/>
          <p:cNvSpPr/>
          <p:nvPr/>
        </p:nvSpPr>
        <p:spPr>
          <a:xfrm>
            <a:off x="457200" y="5074920"/>
            <a:ext cx="11247120" cy="457200"/>
          </a:xfrm>
          <a:prstGeom prst="rect">
            <a:avLst/>
          </a:prstGeom>
          <a:noFill/>
          <a:ln/>
        </p:spPr>
        <p:txBody>
          <a:bodyPr wrap="square" rtlCol="0" anchor="ctr"/>
          <a:lstStyle/>
          <a:p>
            <a:pPr marL="0" indent="0">
              <a:buNone/>
            </a:pPr>
            <a:r>
              <a:rPr lang="en-US" sz="1150" i="1" dirty="0">
                <a:solidFill>
                  <a:srgbClr val="C9B8E8"/>
                </a:solidFill>
                <a:latin typeface="Calibri" pitchFamily="34" charset="0"/>
                <a:ea typeface="Calibri" pitchFamily="34" charset="-122"/>
                <a:cs typeface="Calibri" pitchFamily="34" charset="-120"/>
              </a:rPr>
              <a:t>Subscription conversion shouldn't be static — test trial length, milestone timing, and incentive structure systematically, not just track the number.</a:t>
            </a:r>
            <a:endParaRPr lang="en-US" sz="1150" dirty="0"/>
          </a:p>
        </p:txBody>
      </p:sp>
      <p:sp>
        <p:nvSpPr>
          <p:cNvPr id="22" name="Text 20"/>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A7C"/>
                </a:solidFill>
                <a:latin typeface="Calibri" pitchFamily="34" charset="0"/>
                <a:ea typeface="Calibri" pitchFamily="34" charset="-122"/>
                <a:cs typeface="Calibri" pitchFamily="34" charset="-120"/>
              </a:rPr>
              <a:t>Success Metrics</a:t>
            </a:r>
            <a:endParaRPr lang="en-US" sz="900" dirty="0"/>
          </a:p>
        </p:txBody>
      </p:sp>
      <p:sp>
        <p:nvSpPr>
          <p:cNvPr id="23" name="Text 21"/>
          <p:cNvSpPr/>
          <p:nvPr/>
        </p:nvSpPr>
        <p:spPr>
          <a:xfrm>
            <a:off x="6248095" y="6519672"/>
            <a:ext cx="5486400" cy="274320"/>
          </a:xfrm>
          <a:prstGeom prst="rect">
            <a:avLst/>
          </a:prstGeom>
          <a:noFill/>
          <a:ln/>
        </p:spPr>
        <p:txBody>
          <a:bodyPr wrap="square" rtlCol="0" anchor="ctr"/>
          <a:lstStyle/>
          <a:p>
            <a:pPr marL="0" indent="0" algn="r">
              <a:buNone/>
            </a:pPr>
            <a:r>
              <a:rPr lang="en-US" sz="900" dirty="0">
                <a:solidFill>
                  <a:srgbClr val="6E6A7C"/>
                </a:solidFill>
                <a:latin typeface="Calibri" pitchFamily="34" charset="0"/>
                <a:ea typeface="Calibri" pitchFamily="34" charset="-122"/>
                <a:cs typeface="Calibri" pitchFamily="34" charset="-120"/>
              </a:rPr>
              <a:t>Chris Cannon  |  FedEx Business Strategy Principal Interview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200" b="1" kern="0" spc="100" dirty="0">
                <a:solidFill>
                  <a:srgbClr val="FF6600"/>
                </a:solidFill>
                <a:latin typeface="Calibri" pitchFamily="34" charset="0"/>
                <a:ea typeface="Calibri" pitchFamily="34" charset="-122"/>
                <a:cs typeface="Calibri" pitchFamily="34" charset="-120"/>
              </a:rPr>
              <a:t>APPENDIX</a:t>
            </a:r>
            <a:endParaRPr lang="en-US" sz="1200" dirty="0"/>
          </a:p>
        </p:txBody>
      </p:sp>
      <p:sp>
        <p:nvSpPr>
          <p:cNvPr id="3" name="Text 1"/>
          <p:cNvSpPr/>
          <p:nvPr/>
        </p:nvSpPr>
        <p:spPr>
          <a:xfrm>
            <a:off x="457200" y="594360"/>
            <a:ext cx="11247120" cy="594360"/>
          </a:xfrm>
          <a:prstGeom prst="rect">
            <a:avLst/>
          </a:prstGeom>
          <a:noFill/>
          <a:ln/>
        </p:spPr>
        <p:txBody>
          <a:bodyPr wrap="square" rtlCol="0" anchor="ctr"/>
          <a:lstStyle/>
          <a:p>
            <a:pPr marL="0" indent="0">
              <a:buNone/>
            </a:pPr>
            <a:r>
              <a:rPr lang="en-US" sz="2600" b="1" dirty="0">
                <a:solidFill>
                  <a:srgbClr val="2E0E5C"/>
                </a:solidFill>
                <a:latin typeface="Cambria" pitchFamily="34" charset="0"/>
                <a:ea typeface="Cambria" pitchFamily="34" charset="-122"/>
                <a:cs typeface="Cambria" pitchFamily="34" charset="-120"/>
              </a:rPr>
              <a:t>Sources</a:t>
            </a:r>
            <a:endParaRPr lang="en-US" sz="2600" dirty="0"/>
          </a:p>
        </p:txBody>
      </p:sp>
      <p:sp>
        <p:nvSpPr>
          <p:cNvPr id="4" name="Shape 2"/>
          <p:cNvSpPr/>
          <p:nvPr/>
        </p:nvSpPr>
        <p:spPr>
          <a:xfrm>
            <a:off x="457200" y="1417320"/>
            <a:ext cx="11247120" cy="658368"/>
          </a:xfrm>
          <a:prstGeom prst="roundRect">
            <a:avLst>
              <a:gd name="adj" fmla="val 6944"/>
            </a:avLst>
          </a:prstGeom>
          <a:solidFill>
            <a:srgbClr val="F7F6FA"/>
          </a:solidFill>
          <a:ln/>
        </p:spPr>
        <p:txBody>
          <a:bodyPr/>
          <a:lstStyle/>
          <a:p>
            <a:endParaRPr lang="en-US"/>
          </a:p>
        </p:txBody>
      </p:sp>
      <p:sp>
        <p:nvSpPr>
          <p:cNvPr id="5" name="Text 3"/>
          <p:cNvSpPr/>
          <p:nvPr/>
        </p:nvSpPr>
        <p:spPr>
          <a:xfrm>
            <a:off x="685800" y="1417320"/>
            <a:ext cx="3291840" cy="658368"/>
          </a:xfrm>
          <a:prstGeom prst="rect">
            <a:avLst/>
          </a:prstGeom>
          <a:noFill/>
          <a:ln/>
        </p:spPr>
        <p:txBody>
          <a:bodyPr wrap="square" rtlCol="0" anchor="ctr"/>
          <a:lstStyle/>
          <a:p>
            <a:pPr marL="0" indent="0">
              <a:buNone/>
            </a:pPr>
            <a:r>
              <a:rPr lang="en-US" sz="1150" b="1" dirty="0">
                <a:solidFill>
                  <a:srgbClr val="2E0E5C"/>
                </a:solidFill>
                <a:latin typeface="Calibri" pitchFamily="34" charset="0"/>
                <a:ea typeface="Calibri" pitchFamily="34" charset="-122"/>
                <a:cs typeface="Calibri" pitchFamily="34" charset="-120"/>
              </a:rPr>
              <a:t>FedEx Q4 FY26 Earnings Call</a:t>
            </a:r>
            <a:endParaRPr lang="en-US" sz="1150" dirty="0"/>
          </a:p>
        </p:txBody>
      </p:sp>
      <p:sp>
        <p:nvSpPr>
          <p:cNvPr id="6" name="Text 4"/>
          <p:cNvSpPr/>
          <p:nvPr/>
        </p:nvSpPr>
        <p:spPr>
          <a:xfrm>
            <a:off x="4114800" y="1417320"/>
            <a:ext cx="7406640" cy="658368"/>
          </a:xfrm>
          <a:prstGeom prst="rect">
            <a:avLst/>
          </a:prstGeom>
          <a:noFill/>
          <a:ln/>
        </p:spPr>
        <p:txBody>
          <a:bodyPr wrap="square" rtlCol="0" anchor="ctr"/>
          <a:lstStyle/>
          <a:p>
            <a:pPr marL="0" indent="0">
              <a:lnSpc>
                <a:spcPct val="110000"/>
              </a:lnSpc>
              <a:buNone/>
            </a:pPr>
            <a:r>
              <a:rPr lang="en-US" sz="1050" dirty="0">
                <a:solidFill>
                  <a:srgbClr val="231F35"/>
                </a:solidFill>
                <a:latin typeface="Calibri" pitchFamily="34" charset="0"/>
                <a:ea typeface="Calibri" pitchFamily="34" charset="-122"/>
                <a:cs typeface="Calibri" pitchFamily="34" charset="-120"/>
              </a:rPr>
              <a:t>June 23, 2026 (Brie Carere, EVP &amp; Chief Customer Officer) — healthcare transportation revenue figure</a:t>
            </a:r>
            <a:endParaRPr lang="en-US" sz="1050" dirty="0"/>
          </a:p>
        </p:txBody>
      </p:sp>
      <p:sp>
        <p:nvSpPr>
          <p:cNvPr id="7" name="Text 5"/>
          <p:cNvSpPr/>
          <p:nvPr/>
        </p:nvSpPr>
        <p:spPr>
          <a:xfrm>
            <a:off x="685800" y="2075688"/>
            <a:ext cx="3291840" cy="658368"/>
          </a:xfrm>
          <a:prstGeom prst="rect">
            <a:avLst/>
          </a:prstGeom>
          <a:noFill/>
          <a:ln/>
        </p:spPr>
        <p:txBody>
          <a:bodyPr wrap="square" rtlCol="0" anchor="ctr"/>
          <a:lstStyle/>
          <a:p>
            <a:pPr marL="0" indent="0">
              <a:buNone/>
            </a:pPr>
            <a:r>
              <a:rPr lang="en-US" sz="1150" b="1" dirty="0">
                <a:solidFill>
                  <a:srgbClr val="2E0E5C"/>
                </a:solidFill>
                <a:latin typeface="Calibri" pitchFamily="34" charset="0"/>
                <a:ea typeface="Calibri" pitchFamily="34" charset="-122"/>
                <a:cs typeface="Calibri" pitchFamily="34" charset="-120"/>
              </a:rPr>
              <a:t>FedEx Newsroom</a:t>
            </a:r>
            <a:endParaRPr lang="en-US" sz="1150" dirty="0"/>
          </a:p>
        </p:txBody>
      </p:sp>
      <p:sp>
        <p:nvSpPr>
          <p:cNvPr id="8" name="Text 6"/>
          <p:cNvSpPr/>
          <p:nvPr/>
        </p:nvSpPr>
        <p:spPr>
          <a:xfrm>
            <a:off x="4114800" y="2075688"/>
            <a:ext cx="7406640" cy="658368"/>
          </a:xfrm>
          <a:prstGeom prst="rect">
            <a:avLst/>
          </a:prstGeom>
          <a:noFill/>
          <a:ln/>
        </p:spPr>
        <p:txBody>
          <a:bodyPr wrap="square" rtlCol="0" anchor="ctr"/>
          <a:lstStyle/>
          <a:p>
            <a:pPr marL="0" indent="0">
              <a:lnSpc>
                <a:spcPct val="110000"/>
              </a:lnSpc>
              <a:buNone/>
            </a:pPr>
            <a:r>
              <a:rPr lang="en-US" sz="1050" dirty="0">
                <a:solidFill>
                  <a:srgbClr val="231F35"/>
                </a:solidFill>
                <a:latin typeface="Calibri" pitchFamily="34" charset="0"/>
                <a:ea typeface="Calibri" pitchFamily="34" charset="-122"/>
                <a:cs typeface="Calibri" pitchFamily="34" charset="-120"/>
              </a:rPr>
              <a:t>FedEx Supply Chain divestiture announcement — CEO Raj Subramaniam on healthcare, automotive, aerospace, and data centers as strategic focus verticals</a:t>
            </a:r>
            <a:endParaRPr lang="en-US" sz="1050" dirty="0"/>
          </a:p>
        </p:txBody>
      </p:sp>
      <p:sp>
        <p:nvSpPr>
          <p:cNvPr id="9" name="Shape 7"/>
          <p:cNvSpPr/>
          <p:nvPr/>
        </p:nvSpPr>
        <p:spPr>
          <a:xfrm>
            <a:off x="457200" y="2734056"/>
            <a:ext cx="11247120" cy="658368"/>
          </a:xfrm>
          <a:prstGeom prst="roundRect">
            <a:avLst>
              <a:gd name="adj" fmla="val 6944"/>
            </a:avLst>
          </a:prstGeom>
          <a:solidFill>
            <a:srgbClr val="F7F6FA"/>
          </a:solidFill>
          <a:ln/>
        </p:spPr>
        <p:txBody>
          <a:bodyPr/>
          <a:lstStyle/>
          <a:p>
            <a:endParaRPr lang="en-US"/>
          </a:p>
        </p:txBody>
      </p:sp>
      <p:sp>
        <p:nvSpPr>
          <p:cNvPr id="10" name="Text 8"/>
          <p:cNvSpPr/>
          <p:nvPr/>
        </p:nvSpPr>
        <p:spPr>
          <a:xfrm>
            <a:off x="685800" y="2734056"/>
            <a:ext cx="3291840" cy="658368"/>
          </a:xfrm>
          <a:prstGeom prst="rect">
            <a:avLst/>
          </a:prstGeom>
          <a:noFill/>
          <a:ln/>
        </p:spPr>
        <p:txBody>
          <a:bodyPr wrap="square" rtlCol="0" anchor="ctr"/>
          <a:lstStyle/>
          <a:p>
            <a:pPr marL="0" indent="0">
              <a:buNone/>
            </a:pPr>
            <a:r>
              <a:rPr lang="en-US" sz="1150" b="1" dirty="0">
                <a:solidFill>
                  <a:srgbClr val="2E0E5C"/>
                </a:solidFill>
                <a:latin typeface="Calibri" pitchFamily="34" charset="0"/>
                <a:ea typeface="Calibri" pitchFamily="34" charset="-122"/>
                <a:cs typeface="Calibri" pitchFamily="34" charset="-120"/>
              </a:rPr>
              <a:t>FedEx Newsroom / SEC 8-K</a:t>
            </a:r>
            <a:endParaRPr lang="en-US" sz="1150" dirty="0"/>
          </a:p>
        </p:txBody>
      </p:sp>
      <p:sp>
        <p:nvSpPr>
          <p:cNvPr id="11" name="Text 9"/>
          <p:cNvSpPr/>
          <p:nvPr/>
        </p:nvSpPr>
        <p:spPr>
          <a:xfrm>
            <a:off x="4114800" y="2734056"/>
            <a:ext cx="7406640" cy="658368"/>
          </a:xfrm>
          <a:prstGeom prst="rect">
            <a:avLst/>
          </a:prstGeom>
          <a:noFill/>
          <a:ln/>
        </p:spPr>
        <p:txBody>
          <a:bodyPr wrap="square" rtlCol="0" anchor="ctr"/>
          <a:lstStyle/>
          <a:p>
            <a:pPr marL="0" indent="0">
              <a:lnSpc>
                <a:spcPct val="110000"/>
              </a:lnSpc>
              <a:buNone/>
            </a:pPr>
            <a:r>
              <a:rPr lang="en-US" sz="1050" dirty="0">
                <a:solidFill>
                  <a:srgbClr val="231F35"/>
                </a:solidFill>
                <a:latin typeface="Calibri" pitchFamily="34" charset="0"/>
                <a:ea typeface="Calibri" pitchFamily="34" charset="-122"/>
                <a:cs typeface="Calibri" pitchFamily="34" charset="-120"/>
              </a:rPr>
              <a:t>FedEx Freight spin-off, completed June 1, 2026</a:t>
            </a:r>
            <a:endParaRPr lang="en-US" sz="1050" dirty="0"/>
          </a:p>
        </p:txBody>
      </p:sp>
      <p:sp>
        <p:nvSpPr>
          <p:cNvPr id="12" name="Text 10"/>
          <p:cNvSpPr/>
          <p:nvPr/>
        </p:nvSpPr>
        <p:spPr>
          <a:xfrm>
            <a:off x="685800" y="3392424"/>
            <a:ext cx="3291840" cy="658368"/>
          </a:xfrm>
          <a:prstGeom prst="rect">
            <a:avLst/>
          </a:prstGeom>
          <a:noFill/>
          <a:ln/>
        </p:spPr>
        <p:txBody>
          <a:bodyPr wrap="square" rtlCol="0" anchor="ctr"/>
          <a:lstStyle/>
          <a:p>
            <a:pPr marL="0" indent="0">
              <a:buNone/>
            </a:pPr>
            <a:r>
              <a:rPr lang="en-US" sz="1150" b="1" dirty="0">
                <a:solidFill>
                  <a:srgbClr val="2E0E5C"/>
                </a:solidFill>
                <a:latin typeface="Calibri" pitchFamily="34" charset="0"/>
                <a:ea typeface="Calibri" pitchFamily="34" charset="-122"/>
                <a:cs typeface="Calibri" pitchFamily="34" charset="-120"/>
              </a:rPr>
              <a:t>FedEx Newsroom</a:t>
            </a:r>
            <a:endParaRPr lang="en-US" sz="1150" dirty="0"/>
          </a:p>
        </p:txBody>
      </p:sp>
      <p:sp>
        <p:nvSpPr>
          <p:cNvPr id="13" name="Text 11"/>
          <p:cNvSpPr/>
          <p:nvPr/>
        </p:nvSpPr>
        <p:spPr>
          <a:xfrm>
            <a:off x="4114800" y="3392424"/>
            <a:ext cx="7406640" cy="658368"/>
          </a:xfrm>
          <a:prstGeom prst="rect">
            <a:avLst/>
          </a:prstGeom>
          <a:noFill/>
          <a:ln/>
        </p:spPr>
        <p:txBody>
          <a:bodyPr wrap="square" rtlCol="0" anchor="ctr"/>
          <a:lstStyle/>
          <a:p>
            <a:pPr marL="0" indent="0">
              <a:lnSpc>
                <a:spcPct val="110000"/>
              </a:lnSpc>
              <a:buNone/>
            </a:pPr>
            <a:r>
              <a:rPr lang="en-US" sz="1050" dirty="0">
                <a:solidFill>
                  <a:srgbClr val="231F35"/>
                </a:solidFill>
                <a:latin typeface="Calibri" pitchFamily="34" charset="0"/>
                <a:ea typeface="Calibri" pitchFamily="34" charset="-122"/>
                <a:cs typeface="Calibri" pitchFamily="34" charset="-120"/>
              </a:rPr>
              <a:t>“FedEx Launches Dedicated Life Sciences Organization,” July 9, 2026 — Nick Gennari appointment and background</a:t>
            </a:r>
            <a:endParaRPr lang="en-US" sz="1050" dirty="0"/>
          </a:p>
        </p:txBody>
      </p:sp>
      <p:sp>
        <p:nvSpPr>
          <p:cNvPr id="14" name="Shape 12"/>
          <p:cNvSpPr/>
          <p:nvPr/>
        </p:nvSpPr>
        <p:spPr>
          <a:xfrm>
            <a:off x="457200" y="4050792"/>
            <a:ext cx="11247120" cy="658368"/>
          </a:xfrm>
          <a:prstGeom prst="roundRect">
            <a:avLst>
              <a:gd name="adj" fmla="val 6944"/>
            </a:avLst>
          </a:prstGeom>
          <a:solidFill>
            <a:srgbClr val="F7F6FA"/>
          </a:solidFill>
          <a:ln/>
        </p:spPr>
        <p:txBody>
          <a:bodyPr/>
          <a:lstStyle/>
          <a:p>
            <a:endParaRPr lang="en-US"/>
          </a:p>
        </p:txBody>
      </p:sp>
      <p:sp>
        <p:nvSpPr>
          <p:cNvPr id="15" name="Text 13"/>
          <p:cNvSpPr/>
          <p:nvPr/>
        </p:nvSpPr>
        <p:spPr>
          <a:xfrm>
            <a:off x="685800" y="4050792"/>
            <a:ext cx="3291840" cy="658368"/>
          </a:xfrm>
          <a:prstGeom prst="rect">
            <a:avLst/>
          </a:prstGeom>
          <a:noFill/>
          <a:ln/>
        </p:spPr>
        <p:txBody>
          <a:bodyPr wrap="square" rtlCol="0" anchor="ctr"/>
          <a:lstStyle/>
          <a:p>
            <a:pPr marL="0" indent="0">
              <a:buNone/>
            </a:pPr>
            <a:r>
              <a:rPr lang="en-US" sz="1150" b="1" dirty="0">
                <a:solidFill>
                  <a:srgbClr val="2E0E5C"/>
                </a:solidFill>
                <a:latin typeface="Calibri" pitchFamily="34" charset="0"/>
                <a:ea typeface="Calibri" pitchFamily="34" charset="-122"/>
                <a:cs typeface="Calibri" pitchFamily="34" charset="-120"/>
              </a:rPr>
              <a:t>FedEx.com Product Pages</a:t>
            </a:r>
            <a:endParaRPr lang="en-US" sz="1150" dirty="0"/>
          </a:p>
        </p:txBody>
      </p:sp>
      <p:sp>
        <p:nvSpPr>
          <p:cNvPr id="16" name="Text 14"/>
          <p:cNvSpPr/>
          <p:nvPr/>
        </p:nvSpPr>
        <p:spPr>
          <a:xfrm>
            <a:off x="4114800" y="4050792"/>
            <a:ext cx="7406640" cy="658368"/>
          </a:xfrm>
          <a:prstGeom prst="rect">
            <a:avLst/>
          </a:prstGeom>
          <a:noFill/>
          <a:ln/>
        </p:spPr>
        <p:txBody>
          <a:bodyPr wrap="square" rtlCol="0" anchor="ctr"/>
          <a:lstStyle/>
          <a:p>
            <a:pPr marL="0" indent="0">
              <a:lnSpc>
                <a:spcPct val="110000"/>
              </a:lnSpc>
              <a:buNone/>
            </a:pPr>
            <a:r>
              <a:rPr lang="en-US" sz="1050" dirty="0">
                <a:solidFill>
                  <a:srgbClr val="231F35"/>
                </a:solidFill>
                <a:latin typeface="Calibri" pitchFamily="34" charset="0"/>
                <a:ea typeface="Calibri" pitchFamily="34" charset="-122"/>
                <a:cs typeface="Calibri" pitchFamily="34" charset="-120"/>
              </a:rPr>
              <a:t>Surround, SenseAware ID, and Priority Alert — tier structure and service details</a:t>
            </a:r>
            <a:endParaRPr lang="en-US" sz="1050" dirty="0"/>
          </a:p>
        </p:txBody>
      </p:sp>
      <p:sp>
        <p:nvSpPr>
          <p:cNvPr id="17" name="Text 15"/>
          <p:cNvSpPr/>
          <p:nvPr/>
        </p:nvSpPr>
        <p:spPr>
          <a:xfrm>
            <a:off x="685800" y="4709160"/>
            <a:ext cx="3291840" cy="658368"/>
          </a:xfrm>
          <a:prstGeom prst="rect">
            <a:avLst/>
          </a:prstGeom>
          <a:noFill/>
          <a:ln/>
        </p:spPr>
        <p:txBody>
          <a:bodyPr wrap="square" rtlCol="0" anchor="ctr"/>
          <a:lstStyle/>
          <a:p>
            <a:pPr marL="0" indent="0">
              <a:buNone/>
            </a:pPr>
            <a:r>
              <a:rPr lang="en-US" sz="1150" b="1" dirty="0">
                <a:solidFill>
                  <a:srgbClr val="2E0E5C"/>
                </a:solidFill>
                <a:latin typeface="Calibri" pitchFamily="34" charset="0"/>
                <a:ea typeface="Calibri" pitchFamily="34" charset="-122"/>
                <a:cs typeface="Calibri" pitchFamily="34" charset="-120"/>
              </a:rPr>
              <a:t>FedEx 2026 Investor Day</a:t>
            </a:r>
            <a:endParaRPr lang="en-US" sz="1150" dirty="0"/>
          </a:p>
        </p:txBody>
      </p:sp>
      <p:sp>
        <p:nvSpPr>
          <p:cNvPr id="18" name="Text 16"/>
          <p:cNvSpPr/>
          <p:nvPr/>
        </p:nvSpPr>
        <p:spPr>
          <a:xfrm>
            <a:off x="4114800" y="4709160"/>
            <a:ext cx="7406640" cy="658368"/>
          </a:xfrm>
          <a:prstGeom prst="rect">
            <a:avLst/>
          </a:prstGeom>
          <a:noFill/>
          <a:ln/>
        </p:spPr>
        <p:txBody>
          <a:bodyPr wrap="square" rtlCol="0" anchor="ctr"/>
          <a:lstStyle/>
          <a:p>
            <a:pPr marL="0" indent="0">
              <a:lnSpc>
                <a:spcPct val="110000"/>
              </a:lnSpc>
              <a:buNone/>
            </a:pPr>
            <a:r>
              <a:rPr lang="en-US" sz="1050" dirty="0">
                <a:solidFill>
                  <a:srgbClr val="231F35"/>
                </a:solidFill>
                <a:latin typeface="Calibri" pitchFamily="34" charset="0"/>
                <a:ea typeface="Calibri" pitchFamily="34" charset="-122"/>
                <a:cs typeface="Calibri" pitchFamily="34" charset="-120"/>
              </a:rPr>
              <a:t>February 2026 (Vishal Talwar, EVP &amp; Chief Digital/Information Officer) — AI integration target, RFID strategy</a:t>
            </a:r>
            <a:endParaRPr lang="en-US" sz="1050" dirty="0"/>
          </a:p>
        </p:txBody>
      </p:sp>
      <p:sp>
        <p:nvSpPr>
          <p:cNvPr id="19" name="Shape 17"/>
          <p:cNvSpPr/>
          <p:nvPr/>
        </p:nvSpPr>
        <p:spPr>
          <a:xfrm>
            <a:off x="457200" y="5367528"/>
            <a:ext cx="11247120" cy="658368"/>
          </a:xfrm>
          <a:prstGeom prst="roundRect">
            <a:avLst>
              <a:gd name="adj" fmla="val 6944"/>
            </a:avLst>
          </a:prstGeom>
          <a:solidFill>
            <a:srgbClr val="F7F6FA"/>
          </a:solidFill>
          <a:ln/>
        </p:spPr>
        <p:txBody>
          <a:bodyPr/>
          <a:lstStyle/>
          <a:p>
            <a:endParaRPr lang="en-US"/>
          </a:p>
        </p:txBody>
      </p:sp>
      <p:sp>
        <p:nvSpPr>
          <p:cNvPr id="20" name="Text 18"/>
          <p:cNvSpPr/>
          <p:nvPr/>
        </p:nvSpPr>
        <p:spPr>
          <a:xfrm>
            <a:off x="685800" y="5367528"/>
            <a:ext cx="3291840" cy="658368"/>
          </a:xfrm>
          <a:prstGeom prst="rect">
            <a:avLst/>
          </a:prstGeom>
          <a:noFill/>
          <a:ln/>
        </p:spPr>
        <p:txBody>
          <a:bodyPr wrap="square" rtlCol="0" anchor="ctr"/>
          <a:lstStyle/>
          <a:p>
            <a:pPr marL="0" indent="0">
              <a:buNone/>
            </a:pPr>
            <a:r>
              <a:rPr lang="en-US" sz="1150" b="1" dirty="0">
                <a:solidFill>
                  <a:srgbClr val="2E0E5C"/>
                </a:solidFill>
                <a:latin typeface="Calibri" pitchFamily="34" charset="0"/>
                <a:ea typeface="Calibri" pitchFamily="34" charset="-122"/>
                <a:cs typeface="Calibri" pitchFamily="34" charset="-120"/>
              </a:rPr>
              <a:t>FedEx Chief Data &amp; Analytics Officer</a:t>
            </a:r>
            <a:endParaRPr lang="en-US" sz="1150" dirty="0"/>
          </a:p>
        </p:txBody>
      </p:sp>
      <p:sp>
        <p:nvSpPr>
          <p:cNvPr id="21" name="Text 19"/>
          <p:cNvSpPr/>
          <p:nvPr/>
        </p:nvSpPr>
        <p:spPr>
          <a:xfrm>
            <a:off x="4114800" y="5367528"/>
            <a:ext cx="7406640" cy="658368"/>
          </a:xfrm>
          <a:prstGeom prst="rect">
            <a:avLst/>
          </a:prstGeom>
          <a:noFill/>
          <a:ln/>
        </p:spPr>
        <p:txBody>
          <a:bodyPr wrap="square" rtlCol="0" anchor="ctr"/>
          <a:lstStyle/>
          <a:p>
            <a:pPr marL="0" indent="0">
              <a:lnSpc>
                <a:spcPct val="110000"/>
              </a:lnSpc>
              <a:buNone/>
            </a:pPr>
            <a:r>
              <a:rPr lang="en-US" sz="1050" dirty="0">
                <a:solidFill>
                  <a:srgbClr val="231F35"/>
                </a:solidFill>
                <a:latin typeface="Calibri" pitchFamily="34" charset="0"/>
                <a:ea typeface="Calibri" pitchFamily="34" charset="-122"/>
                <a:cs typeface="Calibri" pitchFamily="34" charset="-120"/>
              </a:rPr>
              <a:t>Public statements on RFID customer-facing piloting status</a:t>
            </a:r>
            <a:endParaRPr lang="en-US" sz="1050" dirty="0"/>
          </a:p>
        </p:txBody>
      </p:sp>
      <p:sp>
        <p:nvSpPr>
          <p:cNvPr id="22" name="Text 20"/>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E6A7C"/>
                </a:solidFill>
                <a:latin typeface="Calibri" pitchFamily="34" charset="0"/>
                <a:ea typeface="Calibri" pitchFamily="34" charset="-122"/>
                <a:cs typeface="Calibri" pitchFamily="34" charset="-120"/>
              </a:rPr>
              <a:t>Appendix — Sources</a:t>
            </a:r>
            <a:endParaRPr lang="en-US" sz="900" dirty="0"/>
          </a:p>
        </p:txBody>
      </p:sp>
      <p:sp>
        <p:nvSpPr>
          <p:cNvPr id="23" name="Text 21"/>
          <p:cNvSpPr/>
          <p:nvPr/>
        </p:nvSpPr>
        <p:spPr>
          <a:xfrm>
            <a:off x="6248095" y="6519672"/>
            <a:ext cx="5486400" cy="274320"/>
          </a:xfrm>
          <a:prstGeom prst="rect">
            <a:avLst/>
          </a:prstGeom>
          <a:noFill/>
          <a:ln/>
        </p:spPr>
        <p:txBody>
          <a:bodyPr wrap="square" rtlCol="0" anchor="ctr"/>
          <a:lstStyle/>
          <a:p>
            <a:pPr marL="0" indent="0" algn="r">
              <a:buNone/>
            </a:pPr>
            <a:r>
              <a:rPr lang="en-US" sz="900" dirty="0">
                <a:solidFill>
                  <a:srgbClr val="6E6A7C"/>
                </a:solidFill>
                <a:latin typeface="Calibri" pitchFamily="34" charset="0"/>
                <a:ea typeface="Calibri" pitchFamily="34" charset="-122"/>
                <a:cs typeface="Calibri" pitchFamily="34" charset="-120"/>
              </a:rPr>
              <a:t>Chris Cannon  |  FedEx Business Strategy Principal Interview</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1333</TotalTime>
  <Words>2643</Words>
  <Application>Microsoft Office PowerPoint</Application>
  <PresentationFormat>Widescreen</PresentationFormat>
  <Paragraphs>146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Cannon</cp:lastModifiedBy>
  <cp:revision>1</cp:revision>
  <dcterms:created xsi:type="dcterms:W3CDTF">2026-07-16T13:52:59Z</dcterms:created>
  <dcterms:modified xsi:type="dcterms:W3CDTF">2026-07-17T14:37:21Z</dcterms:modified>
</cp:coreProperties>
</file>